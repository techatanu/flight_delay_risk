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5ee71e64-58d1-9a92-bbe6-1e1fa8647bd6}">
          <p14:sldIdLst>
            <p14:sldId id="256"/>
            <p14:sldId id="257"/>
            <p14:sldId id="258"/>
            <p14:sldId id="259"/>
            <p14:sldId id="260"/>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0F1B2D"/>
                </a:solidFill>
                <a:latin typeface="+mn-lt"/>
              </a:defRPr>
            </a:pPr>
            <a:r>
              <a:rPr sz="1500" b="0" i="0" u="none" strike="noStrike">
                <a:solidFill>
                  <a:srgbClr val="0F1B2D"/>
                </a:solidFill>
                <a:latin typeface="+mn-lt"/>
              </a:rPr>
              <a:t>How well each method ranks risky flights in December (higher is better)</a:t>
            </a:r>
          </a:p>
        </c:rich>
      </c:tx>
      <c:layout/>
      <c:overlay val="0"/>
    </c:title>
    <c:autoTitleDeleted val="0"/>
    <c:plotArea>
      <c:layout/>
      <c:barChart>
        <c:barDir val="col"/>
        <c:grouping val="stacked"/>
        <c:varyColors val="0"/>
        <c:ser>
          <c:idx val="0"/>
          <c:order val="0"/>
          <c:tx>
            <c:strRef>
              <c:f>Sheet1!$B$1</c:f>
              <c:strCache>
                <c:ptCount val="1"/>
                <c:pt idx="0">
                  <c:v>Simple</c:v>
                </c:pt>
              </c:strCache>
            </c:strRef>
          </c:tx>
          <c:spPr>
            <a:solidFill>
              <a:srgbClr val="8A97A6"/>
            </a:solidFill>
            <a:effectLst/>
          </c:spPr>
          <c:invertIfNegative val="0"/>
          <c:dLbls>
            <c:numFmt formatCode="0.000;;;" sourceLinked="0"/>
            <c:txPr>
              <a:bodyPr/>
              <a:lstStyle/>
              <a:p>
                <a:pPr>
                  <a:defRPr b="1" i="0" strike="noStrike" sz="16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Guessing</c:v>
                  </c:pt>
                  <c:pt idx="1">
                    <c:v>Route's past delays</c:v>
                  </c:pt>
                  <c:pt idx="2">
                    <c:v>Logistic regression</c:v>
                  </c:pt>
                  <c:pt idx="3">
                    <c:v>XGBoost</c:v>
                  </c:pt>
                </c:lvl>
              </c:multiLvlStrCache>
            </c:multiLvlStrRef>
          </c:cat>
          <c:val>
            <c:numRef>
              <c:f>Sheet1!$B$2:$B$5</c:f>
              <c:numCache>
                <c:formatCode>General</c:formatCode>
                <c:ptCount val="4"/>
                <c:pt idx="0">
                  <c:v>0.335</c:v>
                </c:pt>
                <c:pt idx="1">
                  <c:v>0.381</c:v>
                </c:pt>
                <c:pt idx="2">
                  <c:v>0</c:v>
                </c:pt>
                <c:pt idx="3">
                  <c:v>0</c:v>
                </c:pt>
              </c:numCache>
            </c:numRef>
          </c:val>
        </c:ser>
        <c:ser>
          <c:idx val="1"/>
          <c:order val="1"/>
          <c:tx>
            <c:strRef>
              <c:f>Sheet1!$C$1</c:f>
              <c:strCache>
                <c:ptCount val="1"/>
                <c:pt idx="0">
                  <c:v>Our models</c:v>
                </c:pt>
              </c:strCache>
            </c:strRef>
          </c:tx>
          <c:spPr>
            <a:solidFill>
              <a:srgbClr val="E8A33D"/>
            </a:solidFill>
            <a:effectLst/>
          </c:spPr>
          <c:invertIfNegative val="0"/>
          <c:dLbls>
            <c:numFmt formatCode="0.000;;;" sourceLinked="0"/>
            <c:txPr>
              <a:bodyPr/>
              <a:lstStyle/>
              <a:p>
                <a:pPr>
                  <a:defRPr b="1" i="0" strike="noStrike" sz="16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Guessing</c:v>
                  </c:pt>
                  <c:pt idx="1">
                    <c:v>Route's past delays</c:v>
                  </c:pt>
                  <c:pt idx="2">
                    <c:v>Logistic regression</c:v>
                  </c:pt>
                  <c:pt idx="3">
                    <c:v>XGBoost</c:v>
                  </c:pt>
                </c:lvl>
              </c:multiLvlStrCache>
            </c:multiLvlStrRef>
          </c:cat>
          <c:val>
            <c:numRef>
              <c:f>Sheet1!$C$2:$C$5</c:f>
              <c:numCache>
                <c:formatCode>General</c:formatCode>
                <c:ptCount val="4"/>
                <c:pt idx="0">
                  <c:v>0</c:v>
                </c:pt>
                <c:pt idx="1">
                  <c:v>0</c:v>
                </c:pt>
                <c:pt idx="2">
                  <c:v>0.461</c:v>
                </c:pt>
                <c:pt idx="3">
                  <c:v>0.468</c:v>
                </c:pt>
              </c:numCache>
            </c:numRef>
          </c:val>
        </c:ser>
        <c:dLbls>
          <c:numFmt formatCode="0.000;;;" sourceLinked="0"/>
          <c:txPr>
            <a:bodyPr/>
            <a:lstStyle/>
            <a:p>
              <a:pPr>
                <a:defRPr b="1" i="0" strike="noStrike" sz="16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5CDD6"/>
            </a:solidFill>
            <a:prstDash val="solid"/>
            <a:round/>
          </a:ln>
        </c:spPr>
        <c:txPr>
          <a:bodyPr/>
          <a:lstStyle/>
          <a:p>
            <a:pPr>
              <a:defRPr sz="1300" b="0" i="0" u="none" strike="noStrike">
                <a:solidFill>
                  <a:srgbClr val="3A4A5E"/>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3A4A5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ATANU (0:20). Good morning. Imagine you are booking a flight for tomorrow. Wouldn't it help to know tonight whether it is likely to arrive late? That is our project: predicting flight delays a day in advance. I'm Atanu, and this is my team: Prince, Sambhav, Nishant and Sankalp.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ATANU (0:40). Our question is simple: tonight, can we tell which of tomorrow's flights will land at least 15 minutes late? Fifteen minutes is the official definition of a delay. There is one strict rule: we can only use what is known tonight, the schedule and how earlier days went. Our data is every flight that left New York's three airports in 2013: 336,776 flights. About one in four was late. We left out the 9,430 cancelled or diverted flights, and we removed the departure delay, because it is only known after take-off. Using it would be cheating.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ATANU (0:45). Before building anything, we explored the data, and three things stood out. First, delays build up during the day: about 10% of early-morning flights are late, but 37% in the evening, because a late plane makes its next flights late too. Second, December was the worst month, with 34% of flights late, while October and November were the calmest, at about 18%. Remember this, it comes back later. Third, bad days repeat: a day with many delays is a warning for the next day. Sambhav will show how we turned these observations into clues.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SAMBHAV (1:00). A model learns from clues, and we built 35 of them, all known the night before. They answer five questions. When is the flight: time of day, weekday, holidays. What is it: the route, the distance, the airline. How busy is the airport that day. What is the track record of this route, flight number and airline. And how did the last few days go. The biggest risk in a project like this is accidentally using information from the future. So we built a no-peeking test: we scrambled all outcomes after a chosen date and rebuilt the clues. If any clue for an earlier day had changed, it would be cheating. Nothing changed, so the test passed. Nishant will explain how we trained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NISHANT (1:00). To test the models fairly, we treated the year like a school year. They learned from January to September, practised on October and November, which is where we made all our choices, and took one final exam in December, which we used only once. We compared two models. Logistic regression is simple: it weighs each clue and adds up the evidence. XGBoost builds hundreds of small decision trees. XGBoost taught us a lesson: at first it memorised individual days instead of learning general patterns. We fixed this by forcing it to learn only from large groups of at least 8,000 flights. Sankalp will now show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SANKALP (0:40). So, how did they do in December? This chart shows how well each method ranks risky flights; higher is better. Pure guessing gives 0.335. Using each route's past delay rate gives 0.381. Our models reach 0.461 and 0.468, clearly better. In practice, when XGBoost flags a flight as high-risk, 66 out of 100 such flights really were late. The catch: without tomorrow's weather, which we don't have, we can confidently flag only a small share of all late flights.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SANKALP (0:55). December also gave us a surprise. Our model expected about 23% of flights to be late, but in reality 34% were. Why? It had learned what normal looks like from the calm October and November. Our fix: every day, the model re-adjusts its probabilities using the real outcomes of the last four weeks, information that is available the night before. This cut the probability error by more than half, from 0.102 to 0.047, and the model flagged almost twice as many late flights. Prince will show how we used these risk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 (0:45). Finally, we asked: could moving a flight's time help? Out of 27,020 December flights, 1,979 had high delay risk. For each one, we tried moving it one or two hours earlier or later on the same day, and kept the move only if the risk clearly dropped. Only 133 flights improved, and 98 of those moved earlier. The lesson: most delay risk comes from the day and the route, not the exact hour. This was a what-if study, so it ignores crews and passenger connections.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 (0:40). To sum up: we predicted delays a day ahead without ever peeking at the future. Our models clearly beat simple guessing, and they stay reliable when the season changes because they re-adjust every day. Rescheduling helps only a little, and earlier is better. In Phase 2 we will try a deep learning model on the same data and the same test. Each of us owned one part of the project, as shown here.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F1B2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Day-ahead flight delay risk  ·  github.com/techatanu/Flight_Delay_Risk</a:t>
            </a:r>
            <a:endParaRPr lang="en-US" sz="1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822960"/>
            <a:ext cx="685800" cy="685800"/>
          </a:xfrm>
          <a:prstGeom prst="rect">
            <a:avLst/>
          </a:prstGeom>
        </p:spPr>
      </p:pic>
      <p:sp>
        <p:nvSpPr>
          <p:cNvPr id="3" name="Text 0"/>
          <p:cNvSpPr txBox="1"/>
          <p:nvPr/>
        </p:nvSpPr>
        <p:spPr>
          <a:xfrm>
            <a:off x="731520" y="1783080"/>
            <a:ext cx="10058400" cy="365760"/>
          </a:xfrm>
          <a:prstGeom prst="rect">
            <a:avLst/>
          </a:prstGeom>
          <a:noFill/>
          <a:ln/>
        </p:spPr>
        <p:txBody>
          <a:bodyPr wrap="square" lIns="0" tIns="0" rIns="0" bIns="0" rtlCol="0" anchor="t"/>
          <a:lstStyle/>
          <a:p>
            <a:pPr indent="0" marL="0">
              <a:buNone/>
            </a:pPr>
            <a:r>
              <a:rPr lang="en-US" sz="1400" b="1" spc="200" kern="0" dirty="0">
                <a:solidFill>
                  <a:schemeClr val="accent1"/>
                </a:solidFill>
                <a:latin typeface="Calibri" pitchFamily="34" charset="0"/>
                <a:ea typeface="Calibri" pitchFamily="34" charset="-122"/>
                <a:cs typeface="Calibri" pitchFamily="34" charset="-120"/>
              </a:rPr>
              <a:t>ADVANCED MACHINE LEARNING  ·  PROJECT 21  ·  PHASE 1</a:t>
            </a:r>
            <a:endParaRPr lang="en-US" sz="1400" dirty="0"/>
          </a:p>
        </p:txBody>
      </p:sp>
      <p:sp>
        <p:nvSpPr>
          <p:cNvPr id="4" name="Text 1"/>
          <p:cNvSpPr txBox="1"/>
          <p:nvPr/>
        </p:nvSpPr>
        <p:spPr>
          <a:xfrm>
            <a:off x="731520" y="2240280"/>
            <a:ext cx="10789920" cy="91440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Will your flight be late tomorrow?</a:t>
            </a:r>
            <a:endParaRPr lang="en-US" sz="4400" dirty="0"/>
          </a:p>
        </p:txBody>
      </p:sp>
      <p:sp>
        <p:nvSpPr>
          <p:cNvPr id="5" name="Text 2"/>
          <p:cNvSpPr txBox="1"/>
          <p:nvPr/>
        </p:nvSpPr>
        <p:spPr>
          <a:xfrm>
            <a:off x="731520" y="3200400"/>
            <a:ext cx="10515600" cy="457200"/>
          </a:xfrm>
          <a:prstGeom prst="rect">
            <a:avLst/>
          </a:prstGeom>
          <a:noFill/>
          <a:ln/>
        </p:spPr>
        <p:txBody>
          <a:bodyPr wrap="square" lIns="0" tIns="0" rIns="0" bIns="0" rtlCol="0" anchor="t"/>
          <a:lstStyle/>
          <a:p>
            <a:pPr indent="0" marL="0">
              <a:buNone/>
            </a:pPr>
            <a:r>
              <a:rPr lang="en-US" sz="2200" dirty="0">
                <a:solidFill>
                  <a:schemeClr val="accent3"/>
                </a:solidFill>
                <a:latin typeface="Calibri" pitchFamily="34" charset="0"/>
                <a:ea typeface="Calibri" pitchFamily="34" charset="-122"/>
                <a:cs typeface="Calibri" pitchFamily="34" charset="-120"/>
              </a:rPr>
              <a:t>Predicting flight delays the night before departure</a:t>
            </a:r>
            <a:endParaRPr lang="en-US" sz="2200" dirty="0"/>
          </a:p>
        </p:txBody>
      </p:sp>
      <p:sp>
        <p:nvSpPr>
          <p:cNvPr id="6" name="Text 3"/>
          <p:cNvSpPr txBox="1"/>
          <p:nvPr/>
        </p:nvSpPr>
        <p:spPr>
          <a:xfrm>
            <a:off x="731520" y="5120640"/>
            <a:ext cx="10789920" cy="36576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Atanu Adhikari   ·   Prince Singh   ·   Sambhav Kumar   ·   Nishant Ranjan Singh   ·   Sankalp M Tellur</a:t>
            </a:r>
            <a:endParaRPr lang="en-US" sz="1600" dirty="0"/>
          </a:p>
        </p:txBody>
      </p:sp>
      <p:sp>
        <p:nvSpPr>
          <p:cNvPr id="7" name="Text 4"/>
          <p:cNvSpPr txBox="1"/>
          <p:nvPr/>
        </p:nvSpPr>
        <p:spPr>
          <a:xfrm>
            <a:off x="731520" y="5577840"/>
            <a:ext cx="7315200" cy="3200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github.com/techatanu/Flight_Delay_Risk</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question, the rule and the data</a:t>
            </a:r>
            <a:endParaRPr lang="en-US" sz="3000" dirty="0"/>
          </a:p>
        </p:txBody>
      </p:sp>
      <p:sp>
        <p:nvSpPr>
          <p:cNvPr id="3" name="Shape 1"/>
          <p:cNvSpPr/>
          <p:nvPr/>
        </p:nvSpPr>
        <p:spPr>
          <a:xfrm>
            <a:off x="548640" y="1280160"/>
            <a:ext cx="5120640" cy="4846320"/>
          </a:xfrm>
          <a:prstGeom prst="roundRect">
            <a:avLst>
              <a:gd name="adj" fmla="val 1509"/>
            </a:avLst>
          </a:prstGeom>
          <a:solidFill>
            <a:schemeClr val="tx1"/>
          </a:solidFill>
          <a:ln w="12700">
            <a:solidFill>
              <a:schemeClr val="tx1"/>
            </a:solidFill>
            <a:prstDash val="solid"/>
          </a:ln>
        </p:spPr>
      </p:sp>
      <p:sp>
        <p:nvSpPr>
          <p:cNvPr id="4" name="Shape 2"/>
          <p:cNvSpPr/>
          <p:nvPr/>
        </p:nvSpPr>
        <p:spPr>
          <a:xfrm>
            <a:off x="822960" y="1554480"/>
            <a:ext cx="548640" cy="54864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954634" y="1686154"/>
            <a:ext cx="285293" cy="285293"/>
          </a:xfrm>
          <a:prstGeom prst="rect">
            <a:avLst/>
          </a:prstGeom>
        </p:spPr>
      </p:pic>
      <p:sp>
        <p:nvSpPr>
          <p:cNvPr id="6" name="Text 3"/>
          <p:cNvSpPr txBox="1"/>
          <p:nvPr/>
        </p:nvSpPr>
        <p:spPr>
          <a:xfrm>
            <a:off x="1554480" y="1600200"/>
            <a:ext cx="3931920" cy="45720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The question</a:t>
            </a:r>
            <a:endParaRPr lang="en-US" sz="1800" dirty="0"/>
          </a:p>
        </p:txBody>
      </p:sp>
      <p:sp>
        <p:nvSpPr>
          <p:cNvPr id="7" name="Text 4"/>
          <p:cNvSpPr txBox="1"/>
          <p:nvPr/>
        </p:nvSpPr>
        <p:spPr>
          <a:xfrm>
            <a:off x="822960" y="2331720"/>
            <a:ext cx="4572000" cy="1371600"/>
          </a:xfrm>
          <a:prstGeom prst="rect">
            <a:avLst/>
          </a:prstGeom>
          <a:noFill/>
          <a:ln/>
        </p:spPr>
        <p:txBody>
          <a:bodyPr wrap="square" lIns="0" tIns="0" rIns="0" bIns="0" rtlCol="0" anchor="t"/>
          <a:lstStyle/>
          <a:p>
            <a:pPr indent="0" marL="0">
              <a:buNone/>
            </a:pPr>
            <a:r>
              <a:rPr lang="en-US" sz="2200" dirty="0">
                <a:solidFill>
                  <a:schemeClr val="bg1"/>
                </a:solidFill>
                <a:latin typeface="Cambria" pitchFamily="34" charset="0"/>
                <a:ea typeface="Cambria" pitchFamily="34" charset="-122"/>
                <a:cs typeface="Cambria" pitchFamily="34" charset="-120"/>
              </a:rPr>
              <a:t>Tonight, can we tell which of tomorrow's flights will land 15 or more minutes late?</a:t>
            </a:r>
            <a:endParaRPr lang="en-US" sz="2200" dirty="0"/>
          </a:p>
        </p:txBody>
      </p:sp>
      <p:sp>
        <p:nvSpPr>
          <p:cNvPr id="8" name="Text 5"/>
          <p:cNvSpPr txBox="1"/>
          <p:nvPr/>
        </p:nvSpPr>
        <p:spPr>
          <a:xfrm>
            <a:off x="822960" y="3977640"/>
            <a:ext cx="3931920" cy="36576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The rule</a:t>
            </a:r>
            <a:endParaRPr lang="en-US" sz="1800" dirty="0"/>
          </a:p>
        </p:txBody>
      </p:sp>
      <p:sp>
        <p:nvSpPr>
          <p:cNvPr id="9" name="Text 6"/>
          <p:cNvSpPr txBox="1"/>
          <p:nvPr/>
        </p:nvSpPr>
        <p:spPr>
          <a:xfrm>
            <a:off x="822960" y="4389120"/>
            <a:ext cx="4572000" cy="146304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Use only what is known tonight: tomorrow's schedule and how earlier days went. Nothing from the flight day itself.</a:t>
            </a:r>
            <a:endParaRPr lang="en-US" sz="1600" dirty="0"/>
          </a:p>
        </p:txBody>
      </p:sp>
      <p:sp>
        <p:nvSpPr>
          <p:cNvPr id="10" name="Shape 7"/>
          <p:cNvSpPr/>
          <p:nvPr/>
        </p:nvSpPr>
        <p:spPr>
          <a:xfrm>
            <a:off x="5989320" y="1280160"/>
            <a:ext cx="2697480" cy="2331720"/>
          </a:xfrm>
          <a:prstGeom prst="roundRect">
            <a:avLst>
              <a:gd name="adj" fmla="val 3137"/>
            </a:avLst>
          </a:prstGeom>
          <a:solidFill>
            <a:schemeClr val="bg2"/>
          </a:solidFill>
          <a:ln w="12700">
            <a:solidFill>
              <a:schemeClr val="bg2"/>
            </a:solidFill>
            <a:prstDash val="solid"/>
          </a:ln>
        </p:spPr>
      </p:sp>
      <p:sp>
        <p:nvSpPr>
          <p:cNvPr id="11" name="Text 8"/>
          <p:cNvSpPr txBox="1"/>
          <p:nvPr/>
        </p:nvSpPr>
        <p:spPr>
          <a:xfrm>
            <a:off x="6217920" y="1554480"/>
            <a:ext cx="228600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336,776</a:t>
            </a:r>
            <a:endParaRPr lang="en-US" sz="3400" dirty="0"/>
          </a:p>
        </p:txBody>
      </p:sp>
      <p:sp>
        <p:nvSpPr>
          <p:cNvPr id="12" name="Text 9"/>
          <p:cNvSpPr txBox="1"/>
          <p:nvPr/>
        </p:nvSpPr>
        <p:spPr>
          <a:xfrm>
            <a:off x="6217920" y="2377440"/>
            <a:ext cx="2286000" cy="10972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flights from New York's three airports in 2013</a:t>
            </a:r>
            <a:endParaRPr lang="en-US" sz="1600" dirty="0"/>
          </a:p>
        </p:txBody>
      </p:sp>
      <p:sp>
        <p:nvSpPr>
          <p:cNvPr id="13" name="Shape 10"/>
          <p:cNvSpPr/>
          <p:nvPr/>
        </p:nvSpPr>
        <p:spPr>
          <a:xfrm>
            <a:off x="8823960" y="1280160"/>
            <a:ext cx="2697480" cy="2331720"/>
          </a:xfrm>
          <a:prstGeom prst="roundRect">
            <a:avLst>
              <a:gd name="adj" fmla="val 3137"/>
            </a:avLst>
          </a:prstGeom>
          <a:solidFill>
            <a:schemeClr val="bg2"/>
          </a:solidFill>
          <a:ln w="12700">
            <a:solidFill>
              <a:schemeClr val="bg2"/>
            </a:solidFill>
            <a:prstDash val="solid"/>
          </a:ln>
        </p:spPr>
      </p:sp>
      <p:sp>
        <p:nvSpPr>
          <p:cNvPr id="14" name="Text 11"/>
          <p:cNvSpPr txBox="1"/>
          <p:nvPr/>
        </p:nvSpPr>
        <p:spPr>
          <a:xfrm>
            <a:off x="9052560" y="1554480"/>
            <a:ext cx="228600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 in 4</a:t>
            </a:r>
            <a:endParaRPr lang="en-US" sz="3400" dirty="0"/>
          </a:p>
        </p:txBody>
      </p:sp>
      <p:sp>
        <p:nvSpPr>
          <p:cNvPr id="15" name="Text 12"/>
          <p:cNvSpPr txBox="1"/>
          <p:nvPr/>
        </p:nvSpPr>
        <p:spPr>
          <a:xfrm>
            <a:off x="9052560" y="2377440"/>
            <a:ext cx="2286000" cy="10972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arrived 15+ minutes late</a:t>
            </a:r>
            <a:endParaRPr lang="en-US" sz="1600" dirty="0"/>
          </a:p>
        </p:txBody>
      </p:sp>
      <p:sp>
        <p:nvSpPr>
          <p:cNvPr id="16" name="Shape 13"/>
          <p:cNvSpPr/>
          <p:nvPr/>
        </p:nvSpPr>
        <p:spPr>
          <a:xfrm>
            <a:off x="5989320" y="3749040"/>
            <a:ext cx="2697480" cy="2331720"/>
          </a:xfrm>
          <a:prstGeom prst="roundRect">
            <a:avLst>
              <a:gd name="adj" fmla="val 3137"/>
            </a:avLst>
          </a:prstGeom>
          <a:solidFill>
            <a:schemeClr val="bg2"/>
          </a:solidFill>
          <a:ln w="12700">
            <a:solidFill>
              <a:schemeClr val="bg2"/>
            </a:solidFill>
            <a:prstDash val="solid"/>
          </a:ln>
        </p:spPr>
      </p:sp>
      <p:sp>
        <p:nvSpPr>
          <p:cNvPr id="17" name="Text 14"/>
          <p:cNvSpPr txBox="1"/>
          <p:nvPr/>
        </p:nvSpPr>
        <p:spPr>
          <a:xfrm>
            <a:off x="6217920" y="4023360"/>
            <a:ext cx="228600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9,430</a:t>
            </a:r>
            <a:endParaRPr lang="en-US" sz="3400" dirty="0"/>
          </a:p>
        </p:txBody>
      </p:sp>
      <p:sp>
        <p:nvSpPr>
          <p:cNvPr id="18" name="Text 15"/>
          <p:cNvSpPr txBox="1"/>
          <p:nvPr/>
        </p:nvSpPr>
        <p:spPr>
          <a:xfrm>
            <a:off x="6217920" y="4846320"/>
            <a:ext cx="2286000" cy="10972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cancelled or diverted flights left out</a:t>
            </a:r>
            <a:endParaRPr lang="en-US" sz="1600" dirty="0"/>
          </a:p>
        </p:txBody>
      </p:sp>
      <p:sp>
        <p:nvSpPr>
          <p:cNvPr id="19" name="Shape 16"/>
          <p:cNvSpPr/>
          <p:nvPr/>
        </p:nvSpPr>
        <p:spPr>
          <a:xfrm>
            <a:off x="8823960" y="3749040"/>
            <a:ext cx="2697480" cy="2331720"/>
          </a:xfrm>
          <a:prstGeom prst="roundRect">
            <a:avLst>
              <a:gd name="adj" fmla="val 3137"/>
            </a:avLst>
          </a:prstGeom>
          <a:solidFill>
            <a:schemeClr val="bg2"/>
          </a:solidFill>
          <a:ln w="12700">
            <a:solidFill>
              <a:schemeClr val="bg2"/>
            </a:solidFill>
            <a:prstDash val="solid"/>
          </a:ln>
        </p:spPr>
      </p:sp>
      <p:sp>
        <p:nvSpPr>
          <p:cNvPr id="20" name="Text 17"/>
          <p:cNvSpPr txBox="1"/>
          <p:nvPr/>
        </p:nvSpPr>
        <p:spPr>
          <a:xfrm>
            <a:off x="9052560" y="4023360"/>
            <a:ext cx="2286000" cy="731520"/>
          </a:xfrm>
          <a:prstGeom prst="rect">
            <a:avLst/>
          </a:prstGeom>
          <a:noFill/>
          <a:ln/>
        </p:spPr>
        <p:txBody>
          <a:bodyPr wrap="square" lIns="0" tIns="0" rIns="0" bIns="0" rtlCol="0" anchor="ctr"/>
          <a:lstStyle/>
          <a:p>
            <a:pPr indent="0" marL="0">
              <a:buNone/>
            </a:pPr>
            <a:r>
              <a:rPr lang="en-US" sz="3400" b="1" dirty="0">
                <a:solidFill>
                  <a:schemeClr val="accent4"/>
                </a:solidFill>
                <a:latin typeface="Cambria" pitchFamily="34" charset="0"/>
                <a:ea typeface="Cambria" pitchFamily="34" charset="-122"/>
                <a:cs typeface="Cambria" pitchFamily="34" charset="-120"/>
              </a:rPr>
              <a:t>Removed</a:t>
            </a:r>
            <a:endParaRPr lang="en-US" sz="3400" dirty="0"/>
          </a:p>
        </p:txBody>
      </p:sp>
      <p:sp>
        <p:nvSpPr>
          <p:cNvPr id="21" name="Text 18"/>
          <p:cNvSpPr txBox="1"/>
          <p:nvPr/>
        </p:nvSpPr>
        <p:spPr>
          <a:xfrm>
            <a:off x="9052560" y="4846320"/>
            <a:ext cx="2286000" cy="10972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departure delay: it is only known after take-off, so using it would be cheating</a:t>
            </a:r>
            <a:endParaRPr lang="en-US" sz="16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Three things the data told us</a:t>
            </a:r>
            <a:endParaRPr lang="en-US" sz="3000" dirty="0"/>
          </a:p>
        </p:txBody>
      </p:sp>
      <p:sp>
        <p:nvSpPr>
          <p:cNvPr id="3" name="Shape 1"/>
          <p:cNvSpPr/>
          <p:nvPr/>
        </p:nvSpPr>
        <p:spPr>
          <a:xfrm>
            <a:off x="548640" y="1325880"/>
            <a:ext cx="3520440" cy="4800600"/>
          </a:xfrm>
          <a:prstGeom prst="roundRect">
            <a:avLst>
              <a:gd name="adj" fmla="val 2078"/>
            </a:avLst>
          </a:prstGeom>
          <a:solidFill>
            <a:schemeClr val="bg2"/>
          </a:solidFill>
          <a:ln w="12700">
            <a:solidFill>
              <a:schemeClr val="bg2"/>
            </a:solidFill>
            <a:prstDash val="solid"/>
          </a:ln>
        </p:spPr>
      </p:sp>
      <p:sp>
        <p:nvSpPr>
          <p:cNvPr id="4" name="Shape 2"/>
          <p:cNvSpPr/>
          <p:nvPr/>
        </p:nvSpPr>
        <p:spPr>
          <a:xfrm>
            <a:off x="822960" y="1600200"/>
            <a:ext cx="640080" cy="640080"/>
          </a:xfrm>
          <a:prstGeom prst="ellipse">
            <a:avLst/>
          </a:prstGeom>
          <a:solidFill>
            <a:schemeClr val="accent2"/>
          </a:solidFill>
          <a:ln w="12700">
            <a:solidFill>
              <a:schemeClr val="accent2"/>
            </a:solidFill>
            <a:prstDash val="solid"/>
          </a:ln>
        </p:spPr>
      </p:sp>
      <p:pic>
        <p:nvPicPr>
          <p:cNvPr id="5" name="Image 0" descr="preencoded.png">    </p:cNvPr>
          <p:cNvPicPr>
            <a:picLocks noChangeAspect="1"/>
          </p:cNvPicPr>
          <p:nvPr/>
        </p:nvPicPr>
        <p:blipFill>
          <a:blip r:embed="rId1"/>
          <a:stretch>
            <a:fillRect/>
          </a:stretch>
        </p:blipFill>
        <p:spPr>
          <a:xfrm>
            <a:off x="976579" y="1753819"/>
            <a:ext cx="332842" cy="332842"/>
          </a:xfrm>
          <a:prstGeom prst="rect">
            <a:avLst/>
          </a:prstGeom>
        </p:spPr>
      </p:pic>
      <p:sp>
        <p:nvSpPr>
          <p:cNvPr id="6" name="Text 3"/>
          <p:cNvSpPr txBox="1"/>
          <p:nvPr/>
        </p:nvSpPr>
        <p:spPr>
          <a:xfrm>
            <a:off x="822960" y="2468880"/>
            <a:ext cx="3017520" cy="8229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10% → 37%</a:t>
            </a:r>
            <a:endParaRPr lang="en-US" sz="3400" dirty="0"/>
          </a:p>
        </p:txBody>
      </p:sp>
      <p:sp>
        <p:nvSpPr>
          <p:cNvPr id="7" name="Text 4"/>
          <p:cNvSpPr txBox="1"/>
          <p:nvPr/>
        </p:nvSpPr>
        <p:spPr>
          <a:xfrm>
            <a:off x="822960" y="3429000"/>
            <a:ext cx="3017520" cy="73152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Delays build up during the day</a:t>
            </a:r>
            <a:endParaRPr lang="en-US" sz="1900" dirty="0"/>
          </a:p>
        </p:txBody>
      </p:sp>
      <p:sp>
        <p:nvSpPr>
          <p:cNvPr id="8" name="Text 5"/>
          <p:cNvSpPr txBox="1"/>
          <p:nvPr/>
        </p:nvSpPr>
        <p:spPr>
          <a:xfrm>
            <a:off x="822960" y="4251960"/>
            <a:ext cx="3017520" cy="173736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Early-morning flights are rarely late. Evening flights inherit the day's delays, because a late plane makes its next flights late too.</a:t>
            </a:r>
            <a:endParaRPr lang="en-US" sz="1600" dirty="0"/>
          </a:p>
        </p:txBody>
      </p:sp>
      <p:sp>
        <p:nvSpPr>
          <p:cNvPr id="9" name="Shape 6"/>
          <p:cNvSpPr/>
          <p:nvPr/>
        </p:nvSpPr>
        <p:spPr>
          <a:xfrm>
            <a:off x="4343400" y="1325880"/>
            <a:ext cx="3520440" cy="4800600"/>
          </a:xfrm>
          <a:prstGeom prst="roundRect">
            <a:avLst>
              <a:gd name="adj" fmla="val 2078"/>
            </a:avLst>
          </a:prstGeom>
          <a:solidFill>
            <a:schemeClr val="bg2"/>
          </a:solidFill>
          <a:ln w="12700">
            <a:solidFill>
              <a:schemeClr val="bg2"/>
            </a:solidFill>
            <a:prstDash val="solid"/>
          </a:ln>
        </p:spPr>
      </p:sp>
      <p:sp>
        <p:nvSpPr>
          <p:cNvPr id="10" name="Shape 7"/>
          <p:cNvSpPr/>
          <p:nvPr/>
        </p:nvSpPr>
        <p:spPr>
          <a:xfrm>
            <a:off x="4617720" y="1600200"/>
            <a:ext cx="640080" cy="640080"/>
          </a:xfrm>
          <a:prstGeom prst="ellipse">
            <a:avLst/>
          </a:prstGeom>
          <a:solidFill>
            <a:schemeClr val="accent2"/>
          </a:solidFill>
          <a:ln w="12700">
            <a:solidFill>
              <a:schemeClr val="accent2"/>
            </a:solidFill>
            <a:prstDash val="solid"/>
          </a:ln>
        </p:spPr>
      </p:sp>
      <p:pic>
        <p:nvPicPr>
          <p:cNvPr id="11" name="Image 1" descr="preencoded.png">    </p:cNvPr>
          <p:cNvPicPr>
            <a:picLocks noChangeAspect="1"/>
          </p:cNvPicPr>
          <p:nvPr/>
        </p:nvPicPr>
        <p:blipFill>
          <a:blip r:embed="rId2"/>
          <a:stretch>
            <a:fillRect/>
          </a:stretch>
        </p:blipFill>
        <p:spPr>
          <a:xfrm>
            <a:off x="4771339" y="1753819"/>
            <a:ext cx="332842" cy="332842"/>
          </a:xfrm>
          <a:prstGeom prst="rect">
            <a:avLst/>
          </a:prstGeom>
        </p:spPr>
      </p:pic>
      <p:sp>
        <p:nvSpPr>
          <p:cNvPr id="12" name="Text 8"/>
          <p:cNvSpPr txBox="1"/>
          <p:nvPr/>
        </p:nvSpPr>
        <p:spPr>
          <a:xfrm>
            <a:off x="4617720" y="2468880"/>
            <a:ext cx="3017520" cy="8229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34% vs 18%</a:t>
            </a:r>
            <a:endParaRPr lang="en-US" sz="3400" dirty="0"/>
          </a:p>
        </p:txBody>
      </p:sp>
      <p:sp>
        <p:nvSpPr>
          <p:cNvPr id="13" name="Text 9"/>
          <p:cNvSpPr txBox="1"/>
          <p:nvPr/>
        </p:nvSpPr>
        <p:spPr>
          <a:xfrm>
            <a:off x="4617720" y="3429000"/>
            <a:ext cx="3017520" cy="73152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December is the worst month</a:t>
            </a:r>
            <a:endParaRPr lang="en-US" sz="1900" dirty="0"/>
          </a:p>
        </p:txBody>
      </p:sp>
      <p:sp>
        <p:nvSpPr>
          <p:cNvPr id="14" name="Text 10"/>
          <p:cNvSpPr txBox="1"/>
          <p:nvPr/>
        </p:nvSpPr>
        <p:spPr>
          <a:xfrm>
            <a:off x="4617720" y="4251960"/>
            <a:ext cx="3017520" cy="173736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October and November, the months we practised on, were the calmest. This comes back later.</a:t>
            </a:r>
            <a:endParaRPr lang="en-US" sz="1600" dirty="0"/>
          </a:p>
        </p:txBody>
      </p:sp>
      <p:sp>
        <p:nvSpPr>
          <p:cNvPr id="15" name="Shape 11"/>
          <p:cNvSpPr/>
          <p:nvPr/>
        </p:nvSpPr>
        <p:spPr>
          <a:xfrm>
            <a:off x="8138160" y="1325880"/>
            <a:ext cx="3520440" cy="4800600"/>
          </a:xfrm>
          <a:prstGeom prst="roundRect">
            <a:avLst>
              <a:gd name="adj" fmla="val 2078"/>
            </a:avLst>
          </a:prstGeom>
          <a:solidFill>
            <a:schemeClr val="bg2"/>
          </a:solidFill>
          <a:ln w="12700">
            <a:solidFill>
              <a:schemeClr val="bg2"/>
            </a:solidFill>
            <a:prstDash val="solid"/>
          </a:ln>
        </p:spPr>
      </p:sp>
      <p:sp>
        <p:nvSpPr>
          <p:cNvPr id="16" name="Shape 12"/>
          <p:cNvSpPr/>
          <p:nvPr/>
        </p:nvSpPr>
        <p:spPr>
          <a:xfrm>
            <a:off x="8412480" y="1600200"/>
            <a:ext cx="640080" cy="640080"/>
          </a:xfrm>
          <a:prstGeom prst="ellipse">
            <a:avLst/>
          </a:prstGeom>
          <a:solidFill>
            <a:schemeClr val="accent2"/>
          </a:solidFill>
          <a:ln w="12700">
            <a:solidFill>
              <a:schemeClr val="accent2"/>
            </a:solidFill>
            <a:prstDash val="solid"/>
          </a:ln>
        </p:spPr>
      </p:sp>
      <p:pic>
        <p:nvPicPr>
          <p:cNvPr id="17" name="Image 2" descr="preencoded.png">    </p:cNvPr>
          <p:cNvPicPr>
            <a:picLocks noChangeAspect="1"/>
          </p:cNvPicPr>
          <p:nvPr/>
        </p:nvPicPr>
        <p:blipFill>
          <a:blip r:embed="rId3"/>
          <a:stretch>
            <a:fillRect/>
          </a:stretch>
        </p:blipFill>
        <p:spPr>
          <a:xfrm>
            <a:off x="8566099" y="1753819"/>
            <a:ext cx="332842" cy="332842"/>
          </a:xfrm>
          <a:prstGeom prst="rect">
            <a:avLst/>
          </a:prstGeom>
        </p:spPr>
      </p:pic>
      <p:sp>
        <p:nvSpPr>
          <p:cNvPr id="18" name="Text 13"/>
          <p:cNvSpPr txBox="1"/>
          <p:nvPr/>
        </p:nvSpPr>
        <p:spPr>
          <a:xfrm>
            <a:off x="8412480" y="2468880"/>
            <a:ext cx="3017520" cy="8229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Carry-over</a:t>
            </a:r>
            <a:endParaRPr lang="en-US" sz="3400" dirty="0"/>
          </a:p>
        </p:txBody>
      </p:sp>
      <p:sp>
        <p:nvSpPr>
          <p:cNvPr id="19" name="Text 14"/>
          <p:cNvSpPr txBox="1"/>
          <p:nvPr/>
        </p:nvSpPr>
        <p:spPr>
          <a:xfrm>
            <a:off x="8412480" y="3429000"/>
            <a:ext cx="3017520" cy="73152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Bad days repeat</a:t>
            </a:r>
            <a:endParaRPr lang="en-US" sz="1900" dirty="0"/>
          </a:p>
        </p:txBody>
      </p:sp>
      <p:sp>
        <p:nvSpPr>
          <p:cNvPr id="20" name="Text 15"/>
          <p:cNvSpPr txBox="1"/>
          <p:nvPr/>
        </p:nvSpPr>
        <p:spPr>
          <a:xfrm>
            <a:off x="8412480" y="4251960"/>
            <a:ext cx="3017520" cy="173736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A day with many delays is a warning for the next day, so recent delays are a useful clue.</a:t>
            </a:r>
            <a:endParaRPr lang="en-US" sz="16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35 clues, all known the night before</a:t>
            </a:r>
            <a:endParaRPr lang="en-US" sz="3000" dirty="0"/>
          </a:p>
        </p:txBody>
      </p:sp>
      <p:sp>
        <p:nvSpPr>
          <p:cNvPr id="3" name="Shape 1"/>
          <p:cNvSpPr/>
          <p:nvPr/>
        </p:nvSpPr>
        <p:spPr>
          <a:xfrm>
            <a:off x="548640" y="1435608"/>
            <a:ext cx="566928" cy="566928"/>
          </a:xfrm>
          <a:prstGeom prst="ellipse">
            <a:avLst/>
          </a:prstGeom>
          <a:solidFill>
            <a:schemeClr val="accent2"/>
          </a:solidFill>
          <a:ln w="12700">
            <a:solidFill>
              <a:schemeClr val="accent2"/>
            </a:solidFill>
            <a:prstDash val="solid"/>
          </a:ln>
        </p:spPr>
      </p:sp>
      <p:pic>
        <p:nvPicPr>
          <p:cNvPr id="4" name="Image 0" descr="preencoded.png">    </p:cNvPr>
          <p:cNvPicPr>
            <a:picLocks noChangeAspect="1"/>
          </p:cNvPicPr>
          <p:nvPr/>
        </p:nvPicPr>
        <p:blipFill>
          <a:blip r:embed="rId1"/>
          <a:stretch>
            <a:fillRect/>
          </a:stretch>
        </p:blipFill>
        <p:spPr>
          <a:xfrm>
            <a:off x="684703" y="1571671"/>
            <a:ext cx="294803" cy="294803"/>
          </a:xfrm>
          <a:prstGeom prst="rect">
            <a:avLst/>
          </a:prstGeom>
        </p:spPr>
      </p:pic>
      <p:sp>
        <p:nvSpPr>
          <p:cNvPr id="5" name="Text 2"/>
          <p:cNvSpPr txBox="1"/>
          <p:nvPr/>
        </p:nvSpPr>
        <p:spPr>
          <a:xfrm>
            <a:off x="1325880" y="1371600"/>
            <a:ext cx="5669280" cy="36576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When</a:t>
            </a:r>
            <a:endParaRPr lang="en-US" sz="1900" dirty="0"/>
          </a:p>
        </p:txBody>
      </p:sp>
      <p:sp>
        <p:nvSpPr>
          <p:cNvPr id="6" name="Text 3"/>
          <p:cNvSpPr txBox="1"/>
          <p:nvPr/>
        </p:nvSpPr>
        <p:spPr>
          <a:xfrm>
            <a:off x="1325880" y="1755648"/>
            <a:ext cx="5669280" cy="4114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time of day, weekday, nearby holidays</a:t>
            </a:r>
            <a:endParaRPr lang="en-US" sz="1600" dirty="0"/>
          </a:p>
        </p:txBody>
      </p:sp>
      <p:sp>
        <p:nvSpPr>
          <p:cNvPr id="7" name="Shape 4"/>
          <p:cNvSpPr/>
          <p:nvPr/>
        </p:nvSpPr>
        <p:spPr>
          <a:xfrm>
            <a:off x="548640" y="2395728"/>
            <a:ext cx="566928" cy="566928"/>
          </a:xfrm>
          <a:prstGeom prst="ellipse">
            <a:avLst/>
          </a:prstGeom>
          <a:solidFill>
            <a:schemeClr val="accent2"/>
          </a:solidFill>
          <a:ln w="12700">
            <a:solidFill>
              <a:schemeClr val="accent2"/>
            </a:solidFill>
            <a:prstDash val="solid"/>
          </a:ln>
        </p:spPr>
      </p:sp>
      <p:pic>
        <p:nvPicPr>
          <p:cNvPr id="8" name="Image 1" descr="preencoded.png">    </p:cNvPr>
          <p:cNvPicPr>
            <a:picLocks noChangeAspect="1"/>
          </p:cNvPicPr>
          <p:nvPr/>
        </p:nvPicPr>
        <p:blipFill>
          <a:blip r:embed="rId2"/>
          <a:stretch>
            <a:fillRect/>
          </a:stretch>
        </p:blipFill>
        <p:spPr>
          <a:xfrm>
            <a:off x="684703" y="2531791"/>
            <a:ext cx="294803" cy="294803"/>
          </a:xfrm>
          <a:prstGeom prst="rect">
            <a:avLst/>
          </a:prstGeom>
        </p:spPr>
      </p:pic>
      <p:sp>
        <p:nvSpPr>
          <p:cNvPr id="9" name="Text 5"/>
          <p:cNvSpPr txBox="1"/>
          <p:nvPr/>
        </p:nvSpPr>
        <p:spPr>
          <a:xfrm>
            <a:off x="1325880" y="2331720"/>
            <a:ext cx="5669280" cy="36576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What</a:t>
            </a:r>
            <a:endParaRPr lang="en-US" sz="1900" dirty="0"/>
          </a:p>
        </p:txBody>
      </p:sp>
      <p:sp>
        <p:nvSpPr>
          <p:cNvPr id="10" name="Text 6"/>
          <p:cNvSpPr txBox="1"/>
          <p:nvPr/>
        </p:nvSpPr>
        <p:spPr>
          <a:xfrm>
            <a:off x="1325880" y="2715768"/>
            <a:ext cx="5669280" cy="4114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route, distance, airline</a:t>
            </a:r>
            <a:endParaRPr lang="en-US" sz="1600" dirty="0"/>
          </a:p>
        </p:txBody>
      </p:sp>
      <p:sp>
        <p:nvSpPr>
          <p:cNvPr id="11" name="Shape 7"/>
          <p:cNvSpPr/>
          <p:nvPr/>
        </p:nvSpPr>
        <p:spPr>
          <a:xfrm>
            <a:off x="548640" y="3355848"/>
            <a:ext cx="566928" cy="566928"/>
          </a:xfrm>
          <a:prstGeom prst="ellipse">
            <a:avLst/>
          </a:prstGeom>
          <a:solidFill>
            <a:schemeClr val="accent2"/>
          </a:solidFill>
          <a:ln w="12700">
            <a:solidFill>
              <a:schemeClr val="accent2"/>
            </a:solidFill>
            <a:prstDash val="solid"/>
          </a:ln>
        </p:spPr>
      </p:sp>
      <p:pic>
        <p:nvPicPr>
          <p:cNvPr id="12" name="Image 2" descr="preencoded.png">    </p:cNvPr>
          <p:cNvPicPr>
            <a:picLocks noChangeAspect="1"/>
          </p:cNvPicPr>
          <p:nvPr/>
        </p:nvPicPr>
        <p:blipFill>
          <a:blip r:embed="rId3"/>
          <a:stretch>
            <a:fillRect/>
          </a:stretch>
        </p:blipFill>
        <p:spPr>
          <a:xfrm>
            <a:off x="684703" y="3491911"/>
            <a:ext cx="294803" cy="294803"/>
          </a:xfrm>
          <a:prstGeom prst="rect">
            <a:avLst/>
          </a:prstGeom>
        </p:spPr>
      </p:pic>
      <p:sp>
        <p:nvSpPr>
          <p:cNvPr id="13" name="Text 8"/>
          <p:cNvSpPr txBox="1"/>
          <p:nvPr/>
        </p:nvSpPr>
        <p:spPr>
          <a:xfrm>
            <a:off x="1325880" y="3291840"/>
            <a:ext cx="5669280" cy="36576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How busy</a:t>
            </a:r>
            <a:endParaRPr lang="en-US" sz="1900" dirty="0"/>
          </a:p>
        </p:txBody>
      </p:sp>
      <p:sp>
        <p:nvSpPr>
          <p:cNvPr id="14" name="Text 9"/>
          <p:cNvSpPr txBox="1"/>
          <p:nvPr/>
        </p:nvSpPr>
        <p:spPr>
          <a:xfrm>
            <a:off x="1325880" y="3675888"/>
            <a:ext cx="5669280" cy="4114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flights planned at the airport that day and hour</a:t>
            </a:r>
            <a:endParaRPr lang="en-US" sz="1600" dirty="0"/>
          </a:p>
        </p:txBody>
      </p:sp>
      <p:sp>
        <p:nvSpPr>
          <p:cNvPr id="15" name="Shape 10"/>
          <p:cNvSpPr/>
          <p:nvPr/>
        </p:nvSpPr>
        <p:spPr>
          <a:xfrm>
            <a:off x="548640" y="4315968"/>
            <a:ext cx="566928" cy="566928"/>
          </a:xfrm>
          <a:prstGeom prst="ellipse">
            <a:avLst/>
          </a:prstGeom>
          <a:solidFill>
            <a:schemeClr val="accent2"/>
          </a:solidFill>
          <a:ln w="12700">
            <a:solidFill>
              <a:schemeClr val="accent2"/>
            </a:solidFill>
            <a:prstDash val="solid"/>
          </a:ln>
        </p:spPr>
      </p:sp>
      <p:pic>
        <p:nvPicPr>
          <p:cNvPr id="16" name="Image 3" descr="preencoded.png">    </p:cNvPr>
          <p:cNvPicPr>
            <a:picLocks noChangeAspect="1"/>
          </p:cNvPicPr>
          <p:nvPr/>
        </p:nvPicPr>
        <p:blipFill>
          <a:blip r:embed="rId4"/>
          <a:stretch>
            <a:fillRect/>
          </a:stretch>
        </p:blipFill>
        <p:spPr>
          <a:xfrm>
            <a:off x="684703" y="4452031"/>
            <a:ext cx="294803" cy="294803"/>
          </a:xfrm>
          <a:prstGeom prst="rect">
            <a:avLst/>
          </a:prstGeom>
        </p:spPr>
      </p:pic>
      <p:sp>
        <p:nvSpPr>
          <p:cNvPr id="17" name="Text 11"/>
          <p:cNvSpPr txBox="1"/>
          <p:nvPr/>
        </p:nvSpPr>
        <p:spPr>
          <a:xfrm>
            <a:off x="1325880" y="4251960"/>
            <a:ext cx="5669280" cy="36576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Track record</a:t>
            </a:r>
            <a:endParaRPr lang="en-US" sz="1900" dirty="0"/>
          </a:p>
        </p:txBody>
      </p:sp>
      <p:sp>
        <p:nvSpPr>
          <p:cNvPr id="18" name="Text 12"/>
          <p:cNvSpPr txBox="1"/>
          <p:nvPr/>
        </p:nvSpPr>
        <p:spPr>
          <a:xfrm>
            <a:off x="1325880" y="4636008"/>
            <a:ext cx="5669280" cy="4114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past delay rate of the route, flight number, airline and aircraft</a:t>
            </a:r>
            <a:endParaRPr lang="en-US" sz="1600" dirty="0"/>
          </a:p>
        </p:txBody>
      </p:sp>
      <p:sp>
        <p:nvSpPr>
          <p:cNvPr id="19" name="Shape 13"/>
          <p:cNvSpPr/>
          <p:nvPr/>
        </p:nvSpPr>
        <p:spPr>
          <a:xfrm>
            <a:off x="548640" y="5276088"/>
            <a:ext cx="566928" cy="566928"/>
          </a:xfrm>
          <a:prstGeom prst="ellipse">
            <a:avLst/>
          </a:prstGeom>
          <a:solidFill>
            <a:schemeClr val="accent2"/>
          </a:solidFill>
          <a:ln w="12700">
            <a:solidFill>
              <a:schemeClr val="accent2"/>
            </a:solidFill>
            <a:prstDash val="solid"/>
          </a:ln>
        </p:spPr>
      </p:sp>
      <p:pic>
        <p:nvPicPr>
          <p:cNvPr id="20" name="Image 4" descr="preencoded.png">    </p:cNvPr>
          <p:cNvPicPr>
            <a:picLocks noChangeAspect="1"/>
          </p:cNvPicPr>
          <p:nvPr/>
        </p:nvPicPr>
        <p:blipFill>
          <a:blip r:embed="rId5"/>
          <a:stretch>
            <a:fillRect/>
          </a:stretch>
        </p:blipFill>
        <p:spPr>
          <a:xfrm>
            <a:off x="684703" y="5412151"/>
            <a:ext cx="294803" cy="294803"/>
          </a:xfrm>
          <a:prstGeom prst="rect">
            <a:avLst/>
          </a:prstGeom>
        </p:spPr>
      </p:pic>
      <p:sp>
        <p:nvSpPr>
          <p:cNvPr id="21" name="Text 14"/>
          <p:cNvSpPr txBox="1"/>
          <p:nvPr/>
        </p:nvSpPr>
        <p:spPr>
          <a:xfrm>
            <a:off x="1325880" y="5212080"/>
            <a:ext cx="5669280" cy="36576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Recent days</a:t>
            </a:r>
            <a:endParaRPr lang="en-US" sz="1900" dirty="0"/>
          </a:p>
        </p:txBody>
      </p:sp>
      <p:sp>
        <p:nvSpPr>
          <p:cNvPr id="22" name="Text 15"/>
          <p:cNvSpPr txBox="1"/>
          <p:nvPr/>
        </p:nvSpPr>
        <p:spPr>
          <a:xfrm>
            <a:off x="1325880" y="5596128"/>
            <a:ext cx="5669280" cy="4114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delays over the last week and yesterday</a:t>
            </a:r>
            <a:endParaRPr lang="en-US" sz="1600" dirty="0"/>
          </a:p>
        </p:txBody>
      </p:sp>
      <p:sp>
        <p:nvSpPr>
          <p:cNvPr id="23" name="Shape 16"/>
          <p:cNvSpPr/>
          <p:nvPr/>
        </p:nvSpPr>
        <p:spPr>
          <a:xfrm>
            <a:off x="7315200" y="1325880"/>
            <a:ext cx="4251960" cy="4800600"/>
          </a:xfrm>
          <a:prstGeom prst="roundRect">
            <a:avLst>
              <a:gd name="adj" fmla="val 1720"/>
            </a:avLst>
          </a:prstGeom>
          <a:solidFill>
            <a:schemeClr val="tx1"/>
          </a:solidFill>
          <a:ln w="12700">
            <a:solidFill>
              <a:schemeClr val="tx1"/>
            </a:solidFill>
            <a:prstDash val="solid"/>
          </a:ln>
        </p:spPr>
      </p:sp>
      <p:sp>
        <p:nvSpPr>
          <p:cNvPr id="24" name="Shape 17"/>
          <p:cNvSpPr/>
          <p:nvPr/>
        </p:nvSpPr>
        <p:spPr>
          <a:xfrm>
            <a:off x="7589520" y="1600200"/>
            <a:ext cx="594360" cy="594360"/>
          </a:xfrm>
          <a:prstGeom prst="ellipse">
            <a:avLst/>
          </a:prstGeom>
          <a:solidFill>
            <a:schemeClr val="accent1"/>
          </a:solidFill>
          <a:ln w="12700">
            <a:solidFill>
              <a:schemeClr val="accent1"/>
            </a:solidFill>
            <a:prstDash val="solid"/>
          </a:ln>
        </p:spPr>
      </p:sp>
      <p:pic>
        <p:nvPicPr>
          <p:cNvPr id="25" name="Image 5" descr="preencoded.png">    </p:cNvPr>
          <p:cNvPicPr>
            <a:picLocks noChangeAspect="1"/>
          </p:cNvPicPr>
          <p:nvPr/>
        </p:nvPicPr>
        <p:blipFill>
          <a:blip r:embed="rId6"/>
          <a:stretch>
            <a:fillRect/>
          </a:stretch>
        </p:blipFill>
        <p:spPr>
          <a:xfrm>
            <a:off x="7732166" y="1742846"/>
            <a:ext cx="309067" cy="309067"/>
          </a:xfrm>
          <a:prstGeom prst="rect">
            <a:avLst/>
          </a:prstGeom>
        </p:spPr>
      </p:pic>
      <p:sp>
        <p:nvSpPr>
          <p:cNvPr id="26" name="Text 18"/>
          <p:cNvSpPr txBox="1"/>
          <p:nvPr/>
        </p:nvSpPr>
        <p:spPr>
          <a:xfrm>
            <a:off x="8366760" y="1645920"/>
            <a:ext cx="3017520" cy="50292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No-peeking test</a:t>
            </a:r>
            <a:endParaRPr lang="en-US" sz="2000" dirty="0"/>
          </a:p>
        </p:txBody>
      </p:sp>
      <p:sp>
        <p:nvSpPr>
          <p:cNvPr id="27" name="Text 19"/>
          <p:cNvSpPr txBox="1"/>
          <p:nvPr/>
        </p:nvSpPr>
        <p:spPr>
          <a:xfrm>
            <a:off x="7589520" y="2468880"/>
            <a:ext cx="3749040" cy="91440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We scrambled every outcome after a chosen date and rebuilt all the clues.</a:t>
            </a:r>
            <a:endParaRPr lang="en-US" sz="1600" dirty="0"/>
          </a:p>
        </p:txBody>
      </p:sp>
      <p:sp>
        <p:nvSpPr>
          <p:cNvPr id="28" name="Text 20"/>
          <p:cNvSpPr txBox="1"/>
          <p:nvPr/>
        </p:nvSpPr>
        <p:spPr>
          <a:xfrm>
            <a:off x="7589520" y="3429000"/>
            <a:ext cx="3749040" cy="91440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If a clue for an earlier day had changed, it would have been secretly using the future.</a:t>
            </a:r>
            <a:endParaRPr lang="en-US" sz="1600" dirty="0"/>
          </a:p>
        </p:txBody>
      </p:sp>
      <p:sp>
        <p:nvSpPr>
          <p:cNvPr id="29" name="Shape 21"/>
          <p:cNvSpPr/>
          <p:nvPr/>
        </p:nvSpPr>
        <p:spPr>
          <a:xfrm>
            <a:off x="7589520" y="4892040"/>
            <a:ext cx="594360" cy="594360"/>
          </a:xfrm>
          <a:prstGeom prst="ellipse">
            <a:avLst/>
          </a:prstGeom>
          <a:solidFill>
            <a:schemeClr val="accent6"/>
          </a:solidFill>
          <a:ln w="12700">
            <a:solidFill>
              <a:schemeClr val="accent6"/>
            </a:solidFill>
            <a:prstDash val="solid"/>
          </a:ln>
        </p:spPr>
      </p:sp>
      <p:pic>
        <p:nvPicPr>
          <p:cNvPr id="30" name="Image 6" descr="preencoded.png">    </p:cNvPr>
          <p:cNvPicPr>
            <a:picLocks noChangeAspect="1"/>
          </p:cNvPicPr>
          <p:nvPr/>
        </p:nvPicPr>
        <p:blipFill>
          <a:blip r:embed="rId7"/>
          <a:stretch>
            <a:fillRect/>
          </a:stretch>
        </p:blipFill>
        <p:spPr>
          <a:xfrm>
            <a:off x="7732166" y="5034686"/>
            <a:ext cx="309067" cy="309067"/>
          </a:xfrm>
          <a:prstGeom prst="rect">
            <a:avLst/>
          </a:prstGeom>
        </p:spPr>
      </p:pic>
      <p:sp>
        <p:nvSpPr>
          <p:cNvPr id="31" name="Text 22"/>
          <p:cNvSpPr txBox="1"/>
          <p:nvPr/>
        </p:nvSpPr>
        <p:spPr>
          <a:xfrm>
            <a:off x="8366760" y="4892040"/>
            <a:ext cx="3017520" cy="59436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Nothing changed: test passed</a:t>
            </a:r>
            <a:endParaRPr lang="en-US" sz="17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 fair test: learn, practise, then one final exam</a:t>
            </a:r>
            <a:endParaRPr lang="en-US" sz="3000" dirty="0"/>
          </a:p>
        </p:txBody>
      </p:sp>
      <p:sp>
        <p:nvSpPr>
          <p:cNvPr id="3" name="Shape 1"/>
          <p:cNvSpPr/>
          <p:nvPr/>
        </p:nvSpPr>
        <p:spPr>
          <a:xfrm>
            <a:off x="548640" y="1783080"/>
            <a:ext cx="881634" cy="548640"/>
          </a:xfrm>
          <a:prstGeom prst="rect">
            <a:avLst/>
          </a:prstGeom>
          <a:solidFill>
            <a:schemeClr val="accent2"/>
          </a:solidFill>
          <a:ln w="12700">
            <a:solidFill>
              <a:schemeClr val="accent2"/>
            </a:solidFill>
            <a:prstDash val="solid"/>
          </a:ln>
        </p:spPr>
      </p:sp>
      <p:sp>
        <p:nvSpPr>
          <p:cNvPr id="4" name="Text 2"/>
          <p:cNvSpPr txBox="1"/>
          <p:nvPr/>
        </p:nvSpPr>
        <p:spPr>
          <a:xfrm>
            <a:off x="548640" y="1783080"/>
            <a:ext cx="881634"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Jan</a:t>
            </a:r>
            <a:endParaRPr lang="en-US" sz="1400" dirty="0"/>
          </a:p>
        </p:txBody>
      </p:sp>
      <p:sp>
        <p:nvSpPr>
          <p:cNvPr id="5" name="Shape 3"/>
          <p:cNvSpPr/>
          <p:nvPr/>
        </p:nvSpPr>
        <p:spPr>
          <a:xfrm>
            <a:off x="1466850" y="1783080"/>
            <a:ext cx="881634" cy="548640"/>
          </a:xfrm>
          <a:prstGeom prst="rect">
            <a:avLst/>
          </a:prstGeom>
          <a:solidFill>
            <a:schemeClr val="accent2"/>
          </a:solidFill>
          <a:ln w="12700">
            <a:solidFill>
              <a:schemeClr val="accent2"/>
            </a:solidFill>
            <a:prstDash val="solid"/>
          </a:ln>
        </p:spPr>
      </p:sp>
      <p:sp>
        <p:nvSpPr>
          <p:cNvPr id="6" name="Text 4"/>
          <p:cNvSpPr txBox="1"/>
          <p:nvPr/>
        </p:nvSpPr>
        <p:spPr>
          <a:xfrm>
            <a:off x="1466850" y="1783080"/>
            <a:ext cx="881634"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Feb</a:t>
            </a:r>
            <a:endParaRPr lang="en-US" sz="1400" dirty="0"/>
          </a:p>
        </p:txBody>
      </p:sp>
      <p:sp>
        <p:nvSpPr>
          <p:cNvPr id="7" name="Shape 5"/>
          <p:cNvSpPr/>
          <p:nvPr/>
        </p:nvSpPr>
        <p:spPr>
          <a:xfrm>
            <a:off x="2385060" y="1783080"/>
            <a:ext cx="881634" cy="548640"/>
          </a:xfrm>
          <a:prstGeom prst="rect">
            <a:avLst/>
          </a:prstGeom>
          <a:solidFill>
            <a:schemeClr val="accent2"/>
          </a:solidFill>
          <a:ln w="12700">
            <a:solidFill>
              <a:schemeClr val="accent2"/>
            </a:solidFill>
            <a:prstDash val="solid"/>
          </a:ln>
        </p:spPr>
      </p:sp>
      <p:sp>
        <p:nvSpPr>
          <p:cNvPr id="8" name="Text 6"/>
          <p:cNvSpPr txBox="1"/>
          <p:nvPr/>
        </p:nvSpPr>
        <p:spPr>
          <a:xfrm>
            <a:off x="2385060" y="1783080"/>
            <a:ext cx="881634"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Mar</a:t>
            </a:r>
            <a:endParaRPr lang="en-US" sz="1400" dirty="0"/>
          </a:p>
        </p:txBody>
      </p:sp>
      <p:sp>
        <p:nvSpPr>
          <p:cNvPr id="9" name="Shape 7"/>
          <p:cNvSpPr/>
          <p:nvPr/>
        </p:nvSpPr>
        <p:spPr>
          <a:xfrm>
            <a:off x="3303270" y="1783080"/>
            <a:ext cx="881634" cy="548640"/>
          </a:xfrm>
          <a:prstGeom prst="rect">
            <a:avLst/>
          </a:prstGeom>
          <a:solidFill>
            <a:schemeClr val="accent2"/>
          </a:solidFill>
          <a:ln w="12700">
            <a:solidFill>
              <a:schemeClr val="accent2"/>
            </a:solidFill>
            <a:prstDash val="solid"/>
          </a:ln>
        </p:spPr>
      </p:sp>
      <p:sp>
        <p:nvSpPr>
          <p:cNvPr id="10" name="Text 8"/>
          <p:cNvSpPr txBox="1"/>
          <p:nvPr/>
        </p:nvSpPr>
        <p:spPr>
          <a:xfrm>
            <a:off x="3303270" y="1783080"/>
            <a:ext cx="881634"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Apr</a:t>
            </a:r>
            <a:endParaRPr lang="en-US" sz="1400" dirty="0"/>
          </a:p>
        </p:txBody>
      </p:sp>
      <p:sp>
        <p:nvSpPr>
          <p:cNvPr id="11" name="Shape 9"/>
          <p:cNvSpPr/>
          <p:nvPr/>
        </p:nvSpPr>
        <p:spPr>
          <a:xfrm>
            <a:off x="4221480" y="1783080"/>
            <a:ext cx="881634" cy="548640"/>
          </a:xfrm>
          <a:prstGeom prst="rect">
            <a:avLst/>
          </a:prstGeom>
          <a:solidFill>
            <a:schemeClr val="accent2"/>
          </a:solidFill>
          <a:ln w="12700">
            <a:solidFill>
              <a:schemeClr val="accent2"/>
            </a:solidFill>
            <a:prstDash val="solid"/>
          </a:ln>
        </p:spPr>
      </p:sp>
      <p:sp>
        <p:nvSpPr>
          <p:cNvPr id="12" name="Text 10"/>
          <p:cNvSpPr txBox="1"/>
          <p:nvPr/>
        </p:nvSpPr>
        <p:spPr>
          <a:xfrm>
            <a:off x="4221480" y="1783080"/>
            <a:ext cx="881634"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May</a:t>
            </a:r>
            <a:endParaRPr lang="en-US" sz="1400" dirty="0"/>
          </a:p>
        </p:txBody>
      </p:sp>
      <p:sp>
        <p:nvSpPr>
          <p:cNvPr id="13" name="Shape 11"/>
          <p:cNvSpPr/>
          <p:nvPr/>
        </p:nvSpPr>
        <p:spPr>
          <a:xfrm>
            <a:off x="5139690" y="1783080"/>
            <a:ext cx="881634" cy="548640"/>
          </a:xfrm>
          <a:prstGeom prst="rect">
            <a:avLst/>
          </a:prstGeom>
          <a:solidFill>
            <a:schemeClr val="accent2"/>
          </a:solidFill>
          <a:ln w="12700">
            <a:solidFill>
              <a:schemeClr val="accent2"/>
            </a:solidFill>
            <a:prstDash val="solid"/>
          </a:ln>
        </p:spPr>
      </p:sp>
      <p:sp>
        <p:nvSpPr>
          <p:cNvPr id="14" name="Text 12"/>
          <p:cNvSpPr txBox="1"/>
          <p:nvPr/>
        </p:nvSpPr>
        <p:spPr>
          <a:xfrm>
            <a:off x="5139690" y="1783080"/>
            <a:ext cx="881634"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Jun</a:t>
            </a:r>
            <a:endParaRPr lang="en-US" sz="1400" dirty="0"/>
          </a:p>
        </p:txBody>
      </p:sp>
      <p:sp>
        <p:nvSpPr>
          <p:cNvPr id="15" name="Shape 13"/>
          <p:cNvSpPr/>
          <p:nvPr/>
        </p:nvSpPr>
        <p:spPr>
          <a:xfrm>
            <a:off x="6057900" y="1783080"/>
            <a:ext cx="881634" cy="548640"/>
          </a:xfrm>
          <a:prstGeom prst="rect">
            <a:avLst/>
          </a:prstGeom>
          <a:solidFill>
            <a:schemeClr val="accent2"/>
          </a:solidFill>
          <a:ln w="12700">
            <a:solidFill>
              <a:schemeClr val="accent2"/>
            </a:solidFill>
            <a:prstDash val="solid"/>
          </a:ln>
        </p:spPr>
      </p:sp>
      <p:sp>
        <p:nvSpPr>
          <p:cNvPr id="16" name="Text 14"/>
          <p:cNvSpPr txBox="1"/>
          <p:nvPr/>
        </p:nvSpPr>
        <p:spPr>
          <a:xfrm>
            <a:off x="6057900" y="1783080"/>
            <a:ext cx="881634"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Jul</a:t>
            </a:r>
            <a:endParaRPr lang="en-US" sz="1400" dirty="0"/>
          </a:p>
        </p:txBody>
      </p:sp>
      <p:sp>
        <p:nvSpPr>
          <p:cNvPr id="17" name="Shape 15"/>
          <p:cNvSpPr/>
          <p:nvPr/>
        </p:nvSpPr>
        <p:spPr>
          <a:xfrm>
            <a:off x="6976110" y="1783080"/>
            <a:ext cx="881634" cy="548640"/>
          </a:xfrm>
          <a:prstGeom prst="rect">
            <a:avLst/>
          </a:prstGeom>
          <a:solidFill>
            <a:schemeClr val="accent2"/>
          </a:solidFill>
          <a:ln w="12700">
            <a:solidFill>
              <a:schemeClr val="accent2"/>
            </a:solidFill>
            <a:prstDash val="solid"/>
          </a:ln>
        </p:spPr>
      </p:sp>
      <p:sp>
        <p:nvSpPr>
          <p:cNvPr id="18" name="Text 16"/>
          <p:cNvSpPr txBox="1"/>
          <p:nvPr/>
        </p:nvSpPr>
        <p:spPr>
          <a:xfrm>
            <a:off x="6976110" y="1783080"/>
            <a:ext cx="881634"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Aug</a:t>
            </a:r>
            <a:endParaRPr lang="en-US" sz="1400" dirty="0"/>
          </a:p>
        </p:txBody>
      </p:sp>
      <p:sp>
        <p:nvSpPr>
          <p:cNvPr id="19" name="Shape 17"/>
          <p:cNvSpPr/>
          <p:nvPr/>
        </p:nvSpPr>
        <p:spPr>
          <a:xfrm>
            <a:off x="7894320" y="1783080"/>
            <a:ext cx="881634" cy="548640"/>
          </a:xfrm>
          <a:prstGeom prst="rect">
            <a:avLst/>
          </a:prstGeom>
          <a:solidFill>
            <a:schemeClr val="accent2"/>
          </a:solidFill>
          <a:ln w="12700">
            <a:solidFill>
              <a:schemeClr val="accent2"/>
            </a:solidFill>
            <a:prstDash val="solid"/>
          </a:ln>
        </p:spPr>
      </p:sp>
      <p:sp>
        <p:nvSpPr>
          <p:cNvPr id="20" name="Text 18"/>
          <p:cNvSpPr txBox="1"/>
          <p:nvPr/>
        </p:nvSpPr>
        <p:spPr>
          <a:xfrm>
            <a:off x="7894320" y="1783080"/>
            <a:ext cx="881634"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Sep</a:t>
            </a:r>
            <a:endParaRPr lang="en-US" sz="1400" dirty="0"/>
          </a:p>
        </p:txBody>
      </p:sp>
      <p:sp>
        <p:nvSpPr>
          <p:cNvPr id="21" name="Shape 19"/>
          <p:cNvSpPr/>
          <p:nvPr/>
        </p:nvSpPr>
        <p:spPr>
          <a:xfrm>
            <a:off x="8812530" y="1783080"/>
            <a:ext cx="881634" cy="548640"/>
          </a:xfrm>
          <a:prstGeom prst="rect">
            <a:avLst/>
          </a:prstGeom>
          <a:solidFill>
            <a:schemeClr val="accent3"/>
          </a:solidFill>
          <a:ln w="12700">
            <a:solidFill>
              <a:schemeClr val="accent3"/>
            </a:solidFill>
            <a:prstDash val="solid"/>
          </a:ln>
        </p:spPr>
      </p:sp>
      <p:sp>
        <p:nvSpPr>
          <p:cNvPr id="22" name="Text 20"/>
          <p:cNvSpPr txBox="1"/>
          <p:nvPr/>
        </p:nvSpPr>
        <p:spPr>
          <a:xfrm>
            <a:off x="8812530" y="1783080"/>
            <a:ext cx="881634" cy="54864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Oct</a:t>
            </a:r>
            <a:endParaRPr lang="en-US" sz="1400" dirty="0"/>
          </a:p>
        </p:txBody>
      </p:sp>
      <p:sp>
        <p:nvSpPr>
          <p:cNvPr id="23" name="Shape 21"/>
          <p:cNvSpPr/>
          <p:nvPr/>
        </p:nvSpPr>
        <p:spPr>
          <a:xfrm>
            <a:off x="9730740" y="1783080"/>
            <a:ext cx="881634" cy="548640"/>
          </a:xfrm>
          <a:prstGeom prst="rect">
            <a:avLst/>
          </a:prstGeom>
          <a:solidFill>
            <a:schemeClr val="accent3"/>
          </a:solidFill>
          <a:ln w="12700">
            <a:solidFill>
              <a:schemeClr val="accent3"/>
            </a:solidFill>
            <a:prstDash val="solid"/>
          </a:ln>
        </p:spPr>
      </p:sp>
      <p:sp>
        <p:nvSpPr>
          <p:cNvPr id="24" name="Text 22"/>
          <p:cNvSpPr txBox="1"/>
          <p:nvPr/>
        </p:nvSpPr>
        <p:spPr>
          <a:xfrm>
            <a:off x="9730740" y="1783080"/>
            <a:ext cx="881634" cy="54864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Nov</a:t>
            </a:r>
            <a:endParaRPr lang="en-US" sz="1400" dirty="0"/>
          </a:p>
        </p:txBody>
      </p:sp>
      <p:sp>
        <p:nvSpPr>
          <p:cNvPr id="25" name="Shape 23"/>
          <p:cNvSpPr/>
          <p:nvPr/>
        </p:nvSpPr>
        <p:spPr>
          <a:xfrm>
            <a:off x="10648950" y="1783080"/>
            <a:ext cx="881634" cy="548640"/>
          </a:xfrm>
          <a:prstGeom prst="rect">
            <a:avLst/>
          </a:prstGeom>
          <a:solidFill>
            <a:schemeClr val="accent1"/>
          </a:solidFill>
          <a:ln w="12700">
            <a:solidFill>
              <a:schemeClr val="accent1"/>
            </a:solidFill>
            <a:prstDash val="solid"/>
          </a:ln>
        </p:spPr>
      </p:sp>
      <p:sp>
        <p:nvSpPr>
          <p:cNvPr id="26" name="Text 24"/>
          <p:cNvSpPr txBox="1"/>
          <p:nvPr/>
        </p:nvSpPr>
        <p:spPr>
          <a:xfrm>
            <a:off x="10648950" y="1783080"/>
            <a:ext cx="881634" cy="54864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Dec</a:t>
            </a:r>
            <a:endParaRPr lang="en-US" sz="1400" dirty="0"/>
          </a:p>
        </p:txBody>
      </p:sp>
      <p:sp>
        <p:nvSpPr>
          <p:cNvPr id="27" name="Text 25"/>
          <p:cNvSpPr txBox="1"/>
          <p:nvPr/>
        </p:nvSpPr>
        <p:spPr>
          <a:xfrm>
            <a:off x="548640" y="1325880"/>
            <a:ext cx="3657600" cy="36576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Learn</a:t>
            </a:r>
            <a:endParaRPr lang="en-US" sz="1800" dirty="0"/>
          </a:p>
        </p:txBody>
      </p:sp>
      <p:sp>
        <p:nvSpPr>
          <p:cNvPr id="28" name="Text 26"/>
          <p:cNvSpPr txBox="1"/>
          <p:nvPr/>
        </p:nvSpPr>
        <p:spPr>
          <a:xfrm>
            <a:off x="8812530" y="1325880"/>
            <a:ext cx="18364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Practise</a:t>
            </a:r>
            <a:endParaRPr lang="en-US" sz="1800" dirty="0"/>
          </a:p>
        </p:txBody>
      </p:sp>
      <p:sp>
        <p:nvSpPr>
          <p:cNvPr id="29" name="Text 27"/>
          <p:cNvSpPr txBox="1"/>
          <p:nvPr/>
        </p:nvSpPr>
        <p:spPr>
          <a:xfrm>
            <a:off x="10648950" y="1325880"/>
            <a:ext cx="91821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Exam</a:t>
            </a:r>
            <a:endParaRPr lang="en-US" sz="1800" dirty="0"/>
          </a:p>
        </p:txBody>
      </p:sp>
      <p:sp>
        <p:nvSpPr>
          <p:cNvPr id="30" name="Text 28"/>
          <p:cNvSpPr txBox="1"/>
          <p:nvPr/>
        </p:nvSpPr>
        <p:spPr>
          <a:xfrm>
            <a:off x="548640" y="2468880"/>
            <a:ext cx="10972800" cy="36576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All choices were made on the practice months. December was used only once.</a:t>
            </a:r>
            <a:endParaRPr lang="en-US" sz="1600" dirty="0"/>
          </a:p>
        </p:txBody>
      </p:sp>
      <p:sp>
        <p:nvSpPr>
          <p:cNvPr id="31" name="Shape 29"/>
          <p:cNvSpPr/>
          <p:nvPr/>
        </p:nvSpPr>
        <p:spPr>
          <a:xfrm>
            <a:off x="548640" y="3154680"/>
            <a:ext cx="5760720" cy="1371600"/>
          </a:xfrm>
          <a:prstGeom prst="roundRect">
            <a:avLst>
              <a:gd name="adj" fmla="val 5333"/>
            </a:avLst>
          </a:prstGeom>
          <a:solidFill>
            <a:schemeClr val="bg2"/>
          </a:solidFill>
          <a:ln w="12700">
            <a:solidFill>
              <a:schemeClr val="bg2"/>
            </a:solidFill>
            <a:prstDash val="solid"/>
          </a:ln>
        </p:spPr>
      </p:sp>
      <p:sp>
        <p:nvSpPr>
          <p:cNvPr id="32" name="Shape 30"/>
          <p:cNvSpPr/>
          <p:nvPr/>
        </p:nvSpPr>
        <p:spPr>
          <a:xfrm>
            <a:off x="777240" y="3538728"/>
            <a:ext cx="594360" cy="594360"/>
          </a:xfrm>
          <a:prstGeom prst="ellipse">
            <a:avLst/>
          </a:prstGeom>
          <a:solidFill>
            <a:schemeClr val="accent2"/>
          </a:solidFill>
          <a:ln w="12700">
            <a:solidFill>
              <a:schemeClr val="accent2"/>
            </a:solidFill>
            <a:prstDash val="solid"/>
          </a:ln>
        </p:spPr>
      </p:sp>
      <p:pic>
        <p:nvPicPr>
          <p:cNvPr id="33" name="Image 0" descr="preencoded.png">    </p:cNvPr>
          <p:cNvPicPr>
            <a:picLocks noChangeAspect="1"/>
          </p:cNvPicPr>
          <p:nvPr/>
        </p:nvPicPr>
        <p:blipFill>
          <a:blip r:embed="rId1"/>
          <a:stretch>
            <a:fillRect/>
          </a:stretch>
        </p:blipFill>
        <p:spPr>
          <a:xfrm>
            <a:off x="919886" y="3681374"/>
            <a:ext cx="309067" cy="309067"/>
          </a:xfrm>
          <a:prstGeom prst="rect">
            <a:avLst/>
          </a:prstGeom>
        </p:spPr>
      </p:pic>
      <p:sp>
        <p:nvSpPr>
          <p:cNvPr id="34" name="Text 31"/>
          <p:cNvSpPr txBox="1"/>
          <p:nvPr/>
        </p:nvSpPr>
        <p:spPr>
          <a:xfrm>
            <a:off x="1600200" y="3337560"/>
            <a:ext cx="4572000" cy="41148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Logistic regression</a:t>
            </a:r>
            <a:endParaRPr lang="en-US" sz="1900" dirty="0"/>
          </a:p>
        </p:txBody>
      </p:sp>
      <p:sp>
        <p:nvSpPr>
          <p:cNvPr id="35" name="Text 32"/>
          <p:cNvSpPr txBox="1"/>
          <p:nvPr/>
        </p:nvSpPr>
        <p:spPr>
          <a:xfrm>
            <a:off x="1600200" y="3794760"/>
            <a:ext cx="4572000" cy="6400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A simple model: it weighs each clue and adds up the evidence.</a:t>
            </a:r>
            <a:endParaRPr lang="en-US" sz="1600" dirty="0"/>
          </a:p>
        </p:txBody>
      </p:sp>
      <p:sp>
        <p:nvSpPr>
          <p:cNvPr id="36" name="Shape 33"/>
          <p:cNvSpPr/>
          <p:nvPr/>
        </p:nvSpPr>
        <p:spPr>
          <a:xfrm>
            <a:off x="548640" y="4709160"/>
            <a:ext cx="5760720" cy="1371600"/>
          </a:xfrm>
          <a:prstGeom prst="roundRect">
            <a:avLst>
              <a:gd name="adj" fmla="val 5333"/>
            </a:avLst>
          </a:prstGeom>
          <a:solidFill>
            <a:schemeClr val="bg2"/>
          </a:solidFill>
          <a:ln w="12700">
            <a:solidFill>
              <a:schemeClr val="bg2"/>
            </a:solidFill>
            <a:prstDash val="solid"/>
          </a:ln>
        </p:spPr>
      </p:sp>
      <p:sp>
        <p:nvSpPr>
          <p:cNvPr id="37" name="Shape 34"/>
          <p:cNvSpPr/>
          <p:nvPr/>
        </p:nvSpPr>
        <p:spPr>
          <a:xfrm>
            <a:off x="777240" y="5093208"/>
            <a:ext cx="594360" cy="594360"/>
          </a:xfrm>
          <a:prstGeom prst="ellipse">
            <a:avLst/>
          </a:prstGeom>
          <a:solidFill>
            <a:schemeClr val="accent2"/>
          </a:solidFill>
          <a:ln w="12700">
            <a:solidFill>
              <a:schemeClr val="accent2"/>
            </a:solidFill>
            <a:prstDash val="solid"/>
          </a:ln>
        </p:spPr>
      </p:sp>
      <p:pic>
        <p:nvPicPr>
          <p:cNvPr id="38" name="Image 1" descr="preencoded.png">    </p:cNvPr>
          <p:cNvPicPr>
            <a:picLocks noChangeAspect="1"/>
          </p:cNvPicPr>
          <p:nvPr/>
        </p:nvPicPr>
        <p:blipFill>
          <a:blip r:embed="rId2"/>
          <a:stretch>
            <a:fillRect/>
          </a:stretch>
        </p:blipFill>
        <p:spPr>
          <a:xfrm>
            <a:off x="919886" y="5235854"/>
            <a:ext cx="309067" cy="309067"/>
          </a:xfrm>
          <a:prstGeom prst="rect">
            <a:avLst/>
          </a:prstGeom>
        </p:spPr>
      </p:pic>
      <p:sp>
        <p:nvSpPr>
          <p:cNvPr id="39" name="Text 35"/>
          <p:cNvSpPr txBox="1"/>
          <p:nvPr/>
        </p:nvSpPr>
        <p:spPr>
          <a:xfrm>
            <a:off x="1600200" y="4892040"/>
            <a:ext cx="4572000" cy="41148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XGBoost</a:t>
            </a:r>
            <a:endParaRPr lang="en-US" sz="1900" dirty="0"/>
          </a:p>
        </p:txBody>
      </p:sp>
      <p:sp>
        <p:nvSpPr>
          <p:cNvPr id="40" name="Text 36"/>
          <p:cNvSpPr txBox="1"/>
          <p:nvPr/>
        </p:nvSpPr>
        <p:spPr>
          <a:xfrm>
            <a:off x="1600200" y="5349240"/>
            <a:ext cx="4572000" cy="6400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Hundreds of small decision trees, each correcting the ones before it.</a:t>
            </a:r>
            <a:endParaRPr lang="en-US" sz="1600" dirty="0"/>
          </a:p>
        </p:txBody>
      </p:sp>
      <p:sp>
        <p:nvSpPr>
          <p:cNvPr id="41" name="Shape 37"/>
          <p:cNvSpPr/>
          <p:nvPr/>
        </p:nvSpPr>
        <p:spPr>
          <a:xfrm>
            <a:off x="6583680" y="3154680"/>
            <a:ext cx="4983480" cy="2926080"/>
          </a:xfrm>
          <a:prstGeom prst="roundRect">
            <a:avLst>
              <a:gd name="adj" fmla="val 2500"/>
            </a:avLst>
          </a:prstGeom>
          <a:solidFill>
            <a:schemeClr val="tx1"/>
          </a:solidFill>
          <a:ln w="12700">
            <a:solidFill>
              <a:schemeClr val="tx1"/>
            </a:solidFill>
            <a:prstDash val="solid"/>
          </a:ln>
        </p:spPr>
      </p:sp>
      <p:sp>
        <p:nvSpPr>
          <p:cNvPr id="42" name="Shape 38"/>
          <p:cNvSpPr/>
          <p:nvPr/>
        </p:nvSpPr>
        <p:spPr>
          <a:xfrm>
            <a:off x="6858000" y="3429000"/>
            <a:ext cx="548640" cy="548640"/>
          </a:xfrm>
          <a:prstGeom prst="ellipse">
            <a:avLst/>
          </a:prstGeom>
          <a:solidFill>
            <a:schemeClr val="accent1"/>
          </a:solidFill>
          <a:ln w="12700">
            <a:solidFill>
              <a:schemeClr val="accent1"/>
            </a:solidFill>
            <a:prstDash val="solid"/>
          </a:ln>
        </p:spPr>
      </p:sp>
      <p:pic>
        <p:nvPicPr>
          <p:cNvPr id="43" name="Image 2" descr="preencoded.png">    </p:cNvPr>
          <p:cNvPicPr>
            <a:picLocks noChangeAspect="1"/>
          </p:cNvPicPr>
          <p:nvPr/>
        </p:nvPicPr>
        <p:blipFill>
          <a:blip r:embed="rId3"/>
          <a:stretch>
            <a:fillRect/>
          </a:stretch>
        </p:blipFill>
        <p:spPr>
          <a:xfrm>
            <a:off x="6989674" y="3560674"/>
            <a:ext cx="285293" cy="285293"/>
          </a:xfrm>
          <a:prstGeom prst="rect">
            <a:avLst/>
          </a:prstGeom>
        </p:spPr>
      </p:pic>
      <p:sp>
        <p:nvSpPr>
          <p:cNvPr id="44" name="Text 39"/>
          <p:cNvSpPr txBox="1"/>
          <p:nvPr/>
        </p:nvSpPr>
        <p:spPr>
          <a:xfrm>
            <a:off x="7589520" y="3429000"/>
            <a:ext cx="3840480" cy="54864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What XGBoost taught us</a:t>
            </a:r>
            <a:endParaRPr lang="en-US" sz="1800" dirty="0"/>
          </a:p>
        </p:txBody>
      </p:sp>
      <p:sp>
        <p:nvSpPr>
          <p:cNvPr id="45" name="Text 40"/>
          <p:cNvSpPr txBox="1"/>
          <p:nvPr/>
        </p:nvSpPr>
        <p:spPr>
          <a:xfrm>
            <a:off x="6858000" y="4206240"/>
            <a:ext cx="4526280" cy="173736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At first it memorised individual days instead of learning general patterns. We fixed this by making it learn only from large groups of at least 8,000 flights.</a:t>
            </a:r>
            <a:endParaRPr lang="en-US" sz="16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Both models beat simple guessing</a:t>
            </a:r>
            <a:endParaRPr lang="en-US" sz="3000" dirty="0"/>
          </a:p>
        </p:txBody>
      </p:sp>
      <p:graphicFrame>
        <p:nvGraphicFramePr>
          <p:cNvPr id="3" name="Chart 0" descr=""/>
          <p:cNvGraphicFramePr/>
          <p:nvPr/>
        </p:nvGraphicFramePr>
        <p:xfrm>
          <a:off x="548640" y="1234440"/>
          <a:ext cx="6309360" cy="49377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178040" y="1325880"/>
            <a:ext cx="4389120" cy="2331720"/>
          </a:xfrm>
          <a:prstGeom prst="roundRect">
            <a:avLst>
              <a:gd name="adj" fmla="val 3137"/>
            </a:avLst>
          </a:prstGeom>
          <a:solidFill>
            <a:schemeClr val="tx1"/>
          </a:solidFill>
          <a:ln w="12700">
            <a:solidFill>
              <a:schemeClr val="tx1"/>
            </a:solidFill>
            <a:prstDash val="solid"/>
          </a:ln>
        </p:spPr>
      </p:sp>
      <p:sp>
        <p:nvSpPr>
          <p:cNvPr id="5" name="Text 2"/>
          <p:cNvSpPr txBox="1"/>
          <p:nvPr/>
        </p:nvSpPr>
        <p:spPr>
          <a:xfrm>
            <a:off x="7452360" y="1508760"/>
            <a:ext cx="3931920" cy="82296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66 of 100</a:t>
            </a:r>
            <a:endParaRPr lang="en-US" sz="4000" dirty="0"/>
          </a:p>
        </p:txBody>
      </p:sp>
      <p:sp>
        <p:nvSpPr>
          <p:cNvPr id="6" name="Text 3"/>
          <p:cNvSpPr txBox="1"/>
          <p:nvPr/>
        </p:nvSpPr>
        <p:spPr>
          <a:xfrm>
            <a:off x="7452360" y="2423160"/>
            <a:ext cx="3931920"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flights that XGBoost flags as high-risk really were late</a:t>
            </a:r>
            <a:endParaRPr lang="en-US" sz="1700" dirty="0"/>
          </a:p>
        </p:txBody>
      </p:sp>
      <p:sp>
        <p:nvSpPr>
          <p:cNvPr id="7" name="Shape 4"/>
          <p:cNvSpPr/>
          <p:nvPr/>
        </p:nvSpPr>
        <p:spPr>
          <a:xfrm>
            <a:off x="7178040" y="3840480"/>
            <a:ext cx="4389120" cy="2286000"/>
          </a:xfrm>
          <a:prstGeom prst="roundRect">
            <a:avLst>
              <a:gd name="adj" fmla="val 3200"/>
            </a:avLst>
          </a:prstGeom>
          <a:solidFill>
            <a:schemeClr val="bg2"/>
          </a:solidFill>
          <a:ln w="12700">
            <a:solidFill>
              <a:schemeClr val="bg2"/>
            </a:solidFill>
            <a:prstDash val="solid"/>
          </a:ln>
        </p:spPr>
      </p:sp>
      <p:sp>
        <p:nvSpPr>
          <p:cNvPr id="8" name="Shape 5"/>
          <p:cNvSpPr/>
          <p:nvPr/>
        </p:nvSpPr>
        <p:spPr>
          <a:xfrm>
            <a:off x="7406640" y="4069080"/>
            <a:ext cx="548640" cy="548640"/>
          </a:xfrm>
          <a:prstGeom prst="ellipse">
            <a:avLst/>
          </a:prstGeom>
          <a:solidFill>
            <a:schemeClr val="accent2"/>
          </a:solidFill>
          <a:ln w="12700">
            <a:solidFill>
              <a:schemeClr val="accent2"/>
            </a:solidFill>
            <a:prstDash val="solid"/>
          </a:ln>
        </p:spPr>
      </p:sp>
      <p:pic>
        <p:nvPicPr>
          <p:cNvPr id="9" name="Image 0" descr="preencoded.png">    </p:cNvPr>
          <p:cNvPicPr>
            <a:picLocks noChangeAspect="1"/>
          </p:cNvPicPr>
          <p:nvPr/>
        </p:nvPicPr>
        <p:blipFill>
          <a:blip r:embed="rId2"/>
          <a:stretch>
            <a:fillRect/>
          </a:stretch>
        </p:blipFill>
        <p:spPr>
          <a:xfrm>
            <a:off x="7538314" y="4200754"/>
            <a:ext cx="285293" cy="285293"/>
          </a:xfrm>
          <a:prstGeom prst="rect">
            <a:avLst/>
          </a:prstGeom>
        </p:spPr>
      </p:pic>
      <p:sp>
        <p:nvSpPr>
          <p:cNvPr id="10" name="Text 6"/>
          <p:cNvSpPr txBox="1"/>
          <p:nvPr/>
        </p:nvSpPr>
        <p:spPr>
          <a:xfrm>
            <a:off x="8138160" y="4069080"/>
            <a:ext cx="329184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The catch</a:t>
            </a:r>
            <a:endParaRPr lang="en-US" sz="1800" dirty="0"/>
          </a:p>
        </p:txBody>
      </p:sp>
      <p:sp>
        <p:nvSpPr>
          <p:cNvPr id="11" name="Text 7"/>
          <p:cNvSpPr txBox="1"/>
          <p:nvPr/>
        </p:nvSpPr>
        <p:spPr>
          <a:xfrm>
            <a:off x="7406640" y="4754880"/>
            <a:ext cx="3977640" cy="128016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Without tomorrow's weather, which we don't have, only a small share of late flights can be flagged that confidently.</a:t>
            </a:r>
            <a:endParaRPr lang="en-US" sz="16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December surprised the model, so we let it adjust</a:t>
            </a:r>
            <a:endParaRPr lang="en-US" sz="3000" dirty="0"/>
          </a:p>
        </p:txBody>
      </p:sp>
      <p:sp>
        <p:nvSpPr>
          <p:cNvPr id="3" name="Shape 1"/>
          <p:cNvSpPr/>
          <p:nvPr/>
        </p:nvSpPr>
        <p:spPr>
          <a:xfrm>
            <a:off x="548640" y="1325880"/>
            <a:ext cx="2743200" cy="2011680"/>
          </a:xfrm>
          <a:prstGeom prst="roundRect">
            <a:avLst>
              <a:gd name="adj" fmla="val 3636"/>
            </a:avLst>
          </a:prstGeom>
          <a:solidFill>
            <a:schemeClr val="bg2"/>
          </a:solidFill>
          <a:ln w="12700">
            <a:solidFill>
              <a:schemeClr val="bg2"/>
            </a:solidFill>
            <a:prstDash val="solid"/>
          </a:ln>
        </p:spPr>
      </p:sp>
      <p:sp>
        <p:nvSpPr>
          <p:cNvPr id="4" name="Text 2"/>
          <p:cNvSpPr txBox="1"/>
          <p:nvPr/>
        </p:nvSpPr>
        <p:spPr>
          <a:xfrm>
            <a:off x="777240" y="1463040"/>
            <a:ext cx="2286000" cy="86868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23%</a:t>
            </a:r>
            <a:endParaRPr lang="en-US" sz="4800" dirty="0"/>
          </a:p>
        </p:txBody>
      </p:sp>
      <p:sp>
        <p:nvSpPr>
          <p:cNvPr id="5" name="Text 3"/>
          <p:cNvSpPr txBox="1"/>
          <p:nvPr/>
        </p:nvSpPr>
        <p:spPr>
          <a:xfrm>
            <a:off x="777240" y="2377440"/>
            <a:ext cx="2286000" cy="8686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late flights the model expected in December</a:t>
            </a:r>
            <a:endParaRPr lang="en-US" sz="1600" dirty="0"/>
          </a:p>
        </p:txBody>
      </p:sp>
      <p:sp>
        <p:nvSpPr>
          <p:cNvPr id="6" name="Shape 4"/>
          <p:cNvSpPr/>
          <p:nvPr/>
        </p:nvSpPr>
        <p:spPr>
          <a:xfrm>
            <a:off x="3474720" y="1325880"/>
            <a:ext cx="2743200" cy="2011680"/>
          </a:xfrm>
          <a:prstGeom prst="roundRect">
            <a:avLst>
              <a:gd name="adj" fmla="val 3636"/>
            </a:avLst>
          </a:prstGeom>
          <a:solidFill>
            <a:schemeClr val="bg2"/>
          </a:solidFill>
          <a:ln w="12700">
            <a:solidFill>
              <a:schemeClr val="bg2"/>
            </a:solidFill>
            <a:prstDash val="solid"/>
          </a:ln>
        </p:spPr>
      </p:sp>
      <p:sp>
        <p:nvSpPr>
          <p:cNvPr id="7" name="Text 5"/>
          <p:cNvSpPr txBox="1"/>
          <p:nvPr/>
        </p:nvSpPr>
        <p:spPr>
          <a:xfrm>
            <a:off x="3703320" y="1463040"/>
            <a:ext cx="2286000" cy="86868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34%</a:t>
            </a:r>
            <a:endParaRPr lang="en-US" sz="4800" dirty="0"/>
          </a:p>
        </p:txBody>
      </p:sp>
      <p:sp>
        <p:nvSpPr>
          <p:cNvPr id="8" name="Text 6"/>
          <p:cNvSpPr txBox="1"/>
          <p:nvPr/>
        </p:nvSpPr>
        <p:spPr>
          <a:xfrm>
            <a:off x="3703320" y="2377440"/>
            <a:ext cx="2286000" cy="8686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late flights that really happened</a:t>
            </a:r>
            <a:endParaRPr lang="en-US" sz="1600" dirty="0"/>
          </a:p>
        </p:txBody>
      </p:sp>
      <p:sp>
        <p:nvSpPr>
          <p:cNvPr id="9" name="Shape 7"/>
          <p:cNvSpPr/>
          <p:nvPr/>
        </p:nvSpPr>
        <p:spPr>
          <a:xfrm>
            <a:off x="6400800" y="1325880"/>
            <a:ext cx="5166360" cy="2011680"/>
          </a:xfrm>
          <a:prstGeom prst="roundRect">
            <a:avLst>
              <a:gd name="adj" fmla="val 3636"/>
            </a:avLst>
          </a:prstGeom>
          <a:solidFill>
            <a:schemeClr val="bg2"/>
          </a:solidFill>
          <a:ln w="12700">
            <a:solidFill>
              <a:schemeClr val="bg2"/>
            </a:solidFill>
            <a:prstDash val="solid"/>
          </a:ln>
        </p:spPr>
      </p:sp>
      <p:sp>
        <p:nvSpPr>
          <p:cNvPr id="10" name="Text 8"/>
          <p:cNvSpPr txBox="1"/>
          <p:nvPr/>
        </p:nvSpPr>
        <p:spPr>
          <a:xfrm>
            <a:off x="6675120" y="1508760"/>
            <a:ext cx="4663440" cy="411480"/>
          </a:xfrm>
          <a:prstGeom prst="rect">
            <a:avLst/>
          </a:prstGeom>
          <a:noFill/>
          <a:ln/>
        </p:spPr>
        <p:txBody>
          <a:bodyPr wrap="square" lIns="0" tIns="0" rIns="0" bIns="0" rtlCol="0" anchor="t"/>
          <a:lstStyle/>
          <a:p>
            <a:pPr indent="0" marL="0">
              <a:buNone/>
            </a:pPr>
            <a:r>
              <a:rPr lang="en-US" sz="1900" b="1" dirty="0">
                <a:solidFill>
                  <a:schemeClr val="tx1"/>
                </a:solidFill>
                <a:latin typeface="Calibri" pitchFamily="34" charset="0"/>
                <a:ea typeface="Calibri" pitchFamily="34" charset="-122"/>
                <a:cs typeface="Calibri" pitchFamily="34" charset="-120"/>
              </a:rPr>
              <a:t>Why?</a:t>
            </a:r>
            <a:endParaRPr lang="en-US" sz="1900" dirty="0"/>
          </a:p>
        </p:txBody>
      </p:sp>
      <p:sp>
        <p:nvSpPr>
          <p:cNvPr id="11" name="Text 9"/>
          <p:cNvSpPr txBox="1"/>
          <p:nvPr/>
        </p:nvSpPr>
        <p:spPr>
          <a:xfrm>
            <a:off x="6675120" y="1965960"/>
            <a:ext cx="4663440" cy="118872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The model learned what "normal" looks like from the calm practice months, October and November.</a:t>
            </a:r>
            <a:endParaRPr lang="en-US" sz="1600" dirty="0"/>
          </a:p>
        </p:txBody>
      </p:sp>
      <p:sp>
        <p:nvSpPr>
          <p:cNvPr id="12" name="Shape 10"/>
          <p:cNvSpPr/>
          <p:nvPr/>
        </p:nvSpPr>
        <p:spPr>
          <a:xfrm>
            <a:off x="548640" y="3566160"/>
            <a:ext cx="11018520" cy="1051560"/>
          </a:xfrm>
          <a:prstGeom prst="roundRect">
            <a:avLst>
              <a:gd name="adj" fmla="val 6957"/>
            </a:avLst>
          </a:prstGeom>
          <a:solidFill>
            <a:schemeClr val="tx1"/>
          </a:solidFill>
          <a:ln w="12700">
            <a:solidFill>
              <a:schemeClr val="tx1"/>
            </a:solidFill>
            <a:prstDash val="solid"/>
          </a:ln>
        </p:spPr>
      </p:sp>
      <p:sp>
        <p:nvSpPr>
          <p:cNvPr id="13" name="Shape 11"/>
          <p:cNvSpPr/>
          <p:nvPr/>
        </p:nvSpPr>
        <p:spPr>
          <a:xfrm>
            <a:off x="822960" y="3794760"/>
            <a:ext cx="594360" cy="594360"/>
          </a:xfrm>
          <a:prstGeom prst="ellipse">
            <a:avLst/>
          </a:prstGeom>
          <a:solidFill>
            <a:schemeClr val="accent1"/>
          </a:solidFill>
          <a:ln w="12700">
            <a:solidFill>
              <a:schemeClr val="accent1"/>
            </a:solidFill>
            <a:prstDash val="solid"/>
          </a:ln>
        </p:spPr>
      </p:sp>
      <p:pic>
        <p:nvPicPr>
          <p:cNvPr id="14" name="Image 0" descr="preencoded.png">    </p:cNvPr>
          <p:cNvPicPr>
            <a:picLocks noChangeAspect="1"/>
          </p:cNvPicPr>
          <p:nvPr/>
        </p:nvPicPr>
        <p:blipFill>
          <a:blip r:embed="rId1"/>
          <a:stretch>
            <a:fillRect/>
          </a:stretch>
        </p:blipFill>
        <p:spPr>
          <a:xfrm>
            <a:off x="965606" y="3937406"/>
            <a:ext cx="309067" cy="309067"/>
          </a:xfrm>
          <a:prstGeom prst="rect">
            <a:avLst/>
          </a:prstGeom>
        </p:spPr>
      </p:pic>
      <p:sp>
        <p:nvSpPr>
          <p:cNvPr id="15" name="Text 12"/>
          <p:cNvSpPr txBox="1"/>
          <p:nvPr/>
        </p:nvSpPr>
        <p:spPr>
          <a:xfrm>
            <a:off x="1645920" y="3566160"/>
            <a:ext cx="9692640" cy="105156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Our fix:  </a:t>
            </a:r>
            <a:pPr indent="0" marL="0">
              <a:buNone/>
            </a:pPr>
            <a:r>
              <a:rPr lang="en-US" sz="1800" dirty="0">
                <a:solidFill>
                  <a:schemeClr val="bg1"/>
                </a:solidFill>
                <a:latin typeface="Calibri" pitchFamily="34" charset="0"/>
                <a:ea typeface="Calibri" pitchFamily="34" charset="-122"/>
                <a:cs typeface="Calibri" pitchFamily="34" charset="-120"/>
              </a:rPr>
              <a:t>every day, the model re-adjusts its probabilities using the real outcomes of the last 4 weeks, which are known the night before.</a:t>
            </a:r>
            <a:endParaRPr lang="en-US" sz="1800" dirty="0"/>
          </a:p>
        </p:txBody>
      </p:sp>
      <p:sp>
        <p:nvSpPr>
          <p:cNvPr id="16" name="Shape 13"/>
          <p:cNvSpPr/>
          <p:nvPr/>
        </p:nvSpPr>
        <p:spPr>
          <a:xfrm>
            <a:off x="548640" y="4846320"/>
            <a:ext cx="5394960" cy="1280160"/>
          </a:xfrm>
          <a:prstGeom prst="roundRect">
            <a:avLst>
              <a:gd name="adj" fmla="val 5714"/>
            </a:avLst>
          </a:prstGeom>
          <a:solidFill>
            <a:schemeClr val="bg2"/>
          </a:solidFill>
          <a:ln w="12700">
            <a:solidFill>
              <a:schemeClr val="bg2"/>
            </a:solidFill>
            <a:prstDash val="solid"/>
          </a:ln>
        </p:spPr>
      </p:sp>
      <p:sp>
        <p:nvSpPr>
          <p:cNvPr id="17" name="Text 14"/>
          <p:cNvSpPr txBox="1"/>
          <p:nvPr/>
        </p:nvSpPr>
        <p:spPr>
          <a:xfrm>
            <a:off x="822960" y="4937760"/>
            <a:ext cx="4846320" cy="594360"/>
          </a:xfrm>
          <a:prstGeom prst="rect">
            <a:avLst/>
          </a:prstGeom>
          <a:noFill/>
          <a:ln/>
        </p:spPr>
        <p:txBody>
          <a:bodyPr wrap="square" lIns="0" tIns="0" rIns="0" bIns="0" rtlCol="0" anchor="ctr"/>
          <a:lstStyle/>
          <a:p>
            <a:pPr indent="0" marL="0">
              <a:buNone/>
            </a:pPr>
            <a:r>
              <a:rPr lang="en-US" sz="2800" b="1" dirty="0">
                <a:solidFill>
                  <a:schemeClr val="accent6"/>
                </a:solidFill>
                <a:latin typeface="Cambria" pitchFamily="34" charset="0"/>
                <a:ea typeface="Cambria" pitchFamily="34" charset="-122"/>
                <a:cs typeface="Cambria" pitchFamily="34" charset="-120"/>
              </a:rPr>
              <a:t>0.102 → 0.047</a:t>
            </a:r>
            <a:endParaRPr lang="en-US" sz="2800" dirty="0"/>
          </a:p>
        </p:txBody>
      </p:sp>
      <p:sp>
        <p:nvSpPr>
          <p:cNvPr id="18" name="Text 15"/>
          <p:cNvSpPr txBox="1"/>
          <p:nvPr/>
        </p:nvSpPr>
        <p:spPr>
          <a:xfrm>
            <a:off x="822960" y="5532120"/>
            <a:ext cx="4846320" cy="4572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probability error cut by more than half</a:t>
            </a:r>
            <a:endParaRPr lang="en-US" sz="1600" dirty="0"/>
          </a:p>
        </p:txBody>
      </p:sp>
      <p:sp>
        <p:nvSpPr>
          <p:cNvPr id="19" name="Shape 16"/>
          <p:cNvSpPr/>
          <p:nvPr/>
        </p:nvSpPr>
        <p:spPr>
          <a:xfrm>
            <a:off x="6172200" y="4846320"/>
            <a:ext cx="5394960" cy="1280160"/>
          </a:xfrm>
          <a:prstGeom prst="roundRect">
            <a:avLst>
              <a:gd name="adj" fmla="val 5714"/>
            </a:avLst>
          </a:prstGeom>
          <a:solidFill>
            <a:schemeClr val="bg2"/>
          </a:solidFill>
          <a:ln w="12700">
            <a:solidFill>
              <a:schemeClr val="bg2"/>
            </a:solidFill>
            <a:prstDash val="solid"/>
          </a:ln>
        </p:spPr>
      </p:sp>
      <p:sp>
        <p:nvSpPr>
          <p:cNvPr id="20" name="Text 17"/>
          <p:cNvSpPr txBox="1"/>
          <p:nvPr/>
        </p:nvSpPr>
        <p:spPr>
          <a:xfrm>
            <a:off x="6446520" y="4937760"/>
            <a:ext cx="4846320" cy="594360"/>
          </a:xfrm>
          <a:prstGeom prst="rect">
            <a:avLst/>
          </a:prstGeom>
          <a:noFill/>
          <a:ln/>
        </p:spPr>
        <p:txBody>
          <a:bodyPr wrap="square" lIns="0" tIns="0" rIns="0" bIns="0" rtlCol="0" anchor="ctr"/>
          <a:lstStyle/>
          <a:p>
            <a:pPr indent="0" marL="0">
              <a:buNone/>
            </a:pPr>
            <a:r>
              <a:rPr lang="en-US" sz="2800" b="1" dirty="0">
                <a:solidFill>
                  <a:schemeClr val="accent6"/>
                </a:solidFill>
                <a:latin typeface="Cambria" pitchFamily="34" charset="0"/>
                <a:ea typeface="Cambria" pitchFamily="34" charset="-122"/>
                <a:cs typeface="Cambria" pitchFamily="34" charset="-120"/>
              </a:rPr>
              <a:t>Almost 2×</a:t>
            </a:r>
            <a:endParaRPr lang="en-US" sz="2800" dirty="0"/>
          </a:p>
        </p:txBody>
      </p:sp>
      <p:sp>
        <p:nvSpPr>
          <p:cNvPr id="21" name="Text 18"/>
          <p:cNvSpPr txBox="1"/>
          <p:nvPr/>
        </p:nvSpPr>
        <p:spPr>
          <a:xfrm>
            <a:off x="6446520" y="5532120"/>
            <a:ext cx="4846320" cy="4572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as many late flights flagged (3.5% → 6.2% of them)</a:t>
            </a:r>
            <a:endParaRPr lang="en-US" sz="16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Could moving a flight help? Only a little</a:t>
            </a:r>
            <a:endParaRPr lang="en-US" sz="3000" dirty="0"/>
          </a:p>
        </p:txBody>
      </p:sp>
      <p:sp>
        <p:nvSpPr>
          <p:cNvPr id="3" name="Shape 1"/>
          <p:cNvSpPr/>
          <p:nvPr/>
        </p:nvSpPr>
        <p:spPr>
          <a:xfrm>
            <a:off x="548640" y="1325880"/>
            <a:ext cx="2468880" cy="1828800"/>
          </a:xfrm>
          <a:prstGeom prst="roundRect">
            <a:avLst>
              <a:gd name="adj" fmla="val 4000"/>
            </a:avLst>
          </a:prstGeom>
          <a:solidFill>
            <a:schemeClr val="bg2"/>
          </a:solidFill>
          <a:ln w="12700">
            <a:solidFill>
              <a:schemeClr val="bg2"/>
            </a:solidFill>
            <a:prstDash val="solid"/>
          </a:ln>
        </p:spPr>
      </p:sp>
      <p:sp>
        <p:nvSpPr>
          <p:cNvPr id="4" name="Text 2"/>
          <p:cNvSpPr txBox="1"/>
          <p:nvPr/>
        </p:nvSpPr>
        <p:spPr>
          <a:xfrm>
            <a:off x="731520" y="1463040"/>
            <a:ext cx="2103120" cy="86868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27,020</a:t>
            </a:r>
            <a:endParaRPr lang="en-US" sz="4000" dirty="0"/>
          </a:p>
        </p:txBody>
      </p:sp>
      <p:sp>
        <p:nvSpPr>
          <p:cNvPr id="5" name="Text 3"/>
          <p:cNvSpPr txBox="1"/>
          <p:nvPr/>
        </p:nvSpPr>
        <p:spPr>
          <a:xfrm>
            <a:off x="731520" y="2377440"/>
            <a:ext cx="2103120" cy="640080"/>
          </a:xfrm>
          <a:prstGeom prst="rect">
            <a:avLst/>
          </a:prstGeom>
          <a:noFill/>
          <a:ln/>
        </p:spPr>
        <p:txBody>
          <a:bodyPr wrap="square" lIns="0" tIns="0" rIns="0" bIns="0" rtlCol="0" anchor="t"/>
          <a:lstStyle/>
          <a:p>
            <a:pPr algn="ctr" indent="0" marL="0">
              <a:buNone/>
            </a:pPr>
            <a:r>
              <a:rPr lang="en-US" sz="1600" dirty="0">
                <a:solidFill>
                  <a:schemeClr val="tx2"/>
                </a:solidFill>
                <a:latin typeface="Calibri" pitchFamily="34" charset="0"/>
                <a:ea typeface="Calibri" pitchFamily="34" charset="-122"/>
                <a:cs typeface="Calibri" pitchFamily="34" charset="-120"/>
              </a:rPr>
              <a:t>December flights</a:t>
            </a:r>
            <a:endParaRPr lang="en-US" sz="1600" dirty="0"/>
          </a:p>
        </p:txBody>
      </p:sp>
      <p:sp>
        <p:nvSpPr>
          <p:cNvPr id="6" name="Shape 4"/>
          <p:cNvSpPr/>
          <p:nvPr/>
        </p:nvSpPr>
        <p:spPr>
          <a:xfrm>
            <a:off x="3063240" y="2075688"/>
            <a:ext cx="274320" cy="310896"/>
          </a:xfrm>
          <a:prstGeom prst="rightArrow">
            <a:avLst/>
          </a:prstGeom>
          <a:solidFill>
            <a:schemeClr val="accent5"/>
          </a:solidFill>
          <a:ln w="12700">
            <a:solidFill>
              <a:schemeClr val="accent5"/>
            </a:solidFill>
            <a:prstDash val="solid"/>
          </a:ln>
        </p:spPr>
      </p:sp>
      <p:sp>
        <p:nvSpPr>
          <p:cNvPr id="7" name="Shape 5"/>
          <p:cNvSpPr/>
          <p:nvPr/>
        </p:nvSpPr>
        <p:spPr>
          <a:xfrm>
            <a:off x="3383280" y="1325880"/>
            <a:ext cx="2468880" cy="1828800"/>
          </a:xfrm>
          <a:prstGeom prst="roundRect">
            <a:avLst>
              <a:gd name="adj" fmla="val 4000"/>
            </a:avLst>
          </a:prstGeom>
          <a:solidFill>
            <a:schemeClr val="bg2"/>
          </a:solidFill>
          <a:ln w="12700">
            <a:solidFill>
              <a:schemeClr val="bg2"/>
            </a:solidFill>
            <a:prstDash val="solid"/>
          </a:ln>
        </p:spPr>
      </p:sp>
      <p:sp>
        <p:nvSpPr>
          <p:cNvPr id="8" name="Text 6"/>
          <p:cNvSpPr txBox="1"/>
          <p:nvPr/>
        </p:nvSpPr>
        <p:spPr>
          <a:xfrm>
            <a:off x="3566160" y="1463040"/>
            <a:ext cx="2103120" cy="86868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1,979</a:t>
            </a:r>
            <a:endParaRPr lang="en-US" sz="4000" dirty="0"/>
          </a:p>
        </p:txBody>
      </p:sp>
      <p:sp>
        <p:nvSpPr>
          <p:cNvPr id="9" name="Text 7"/>
          <p:cNvSpPr txBox="1"/>
          <p:nvPr/>
        </p:nvSpPr>
        <p:spPr>
          <a:xfrm>
            <a:off x="3566160" y="2377440"/>
            <a:ext cx="2103120" cy="640080"/>
          </a:xfrm>
          <a:prstGeom prst="rect">
            <a:avLst/>
          </a:prstGeom>
          <a:noFill/>
          <a:ln/>
        </p:spPr>
        <p:txBody>
          <a:bodyPr wrap="square" lIns="0" tIns="0" rIns="0" bIns="0" rtlCol="0" anchor="t"/>
          <a:lstStyle/>
          <a:p>
            <a:pPr algn="ctr" indent="0" marL="0">
              <a:buNone/>
            </a:pPr>
            <a:r>
              <a:rPr lang="en-US" sz="1600" dirty="0">
                <a:solidFill>
                  <a:schemeClr val="tx2"/>
                </a:solidFill>
                <a:latin typeface="Calibri" pitchFamily="34" charset="0"/>
                <a:ea typeface="Calibri" pitchFamily="34" charset="-122"/>
                <a:cs typeface="Calibri" pitchFamily="34" charset="-120"/>
              </a:rPr>
              <a:t>had high delay risk</a:t>
            </a:r>
            <a:endParaRPr lang="en-US" sz="1600" dirty="0"/>
          </a:p>
        </p:txBody>
      </p:sp>
      <p:sp>
        <p:nvSpPr>
          <p:cNvPr id="10" name="Shape 8"/>
          <p:cNvSpPr/>
          <p:nvPr/>
        </p:nvSpPr>
        <p:spPr>
          <a:xfrm>
            <a:off x="5897880" y="2075688"/>
            <a:ext cx="274320" cy="310896"/>
          </a:xfrm>
          <a:prstGeom prst="rightArrow">
            <a:avLst/>
          </a:prstGeom>
          <a:solidFill>
            <a:schemeClr val="accent5"/>
          </a:solidFill>
          <a:ln w="12700">
            <a:solidFill>
              <a:schemeClr val="accent5"/>
            </a:solidFill>
            <a:prstDash val="solid"/>
          </a:ln>
        </p:spPr>
      </p:sp>
      <p:sp>
        <p:nvSpPr>
          <p:cNvPr id="11" name="Shape 9"/>
          <p:cNvSpPr/>
          <p:nvPr/>
        </p:nvSpPr>
        <p:spPr>
          <a:xfrm>
            <a:off x="6217920" y="1325880"/>
            <a:ext cx="2468880" cy="1828800"/>
          </a:xfrm>
          <a:prstGeom prst="roundRect">
            <a:avLst>
              <a:gd name="adj" fmla="val 4000"/>
            </a:avLst>
          </a:prstGeom>
          <a:solidFill>
            <a:schemeClr val="bg2"/>
          </a:solidFill>
          <a:ln w="12700">
            <a:solidFill>
              <a:schemeClr val="bg2"/>
            </a:solidFill>
            <a:prstDash val="solid"/>
          </a:ln>
        </p:spPr>
      </p:sp>
      <p:sp>
        <p:nvSpPr>
          <p:cNvPr id="12" name="Text 10"/>
          <p:cNvSpPr txBox="1"/>
          <p:nvPr/>
        </p:nvSpPr>
        <p:spPr>
          <a:xfrm>
            <a:off x="6400800" y="1463040"/>
            <a:ext cx="2103120" cy="86868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133</a:t>
            </a:r>
            <a:endParaRPr lang="en-US" sz="4000" dirty="0"/>
          </a:p>
        </p:txBody>
      </p:sp>
      <p:sp>
        <p:nvSpPr>
          <p:cNvPr id="13" name="Text 11"/>
          <p:cNvSpPr txBox="1"/>
          <p:nvPr/>
        </p:nvSpPr>
        <p:spPr>
          <a:xfrm>
            <a:off x="6400800" y="2377440"/>
            <a:ext cx="2103120" cy="640080"/>
          </a:xfrm>
          <a:prstGeom prst="rect">
            <a:avLst/>
          </a:prstGeom>
          <a:noFill/>
          <a:ln/>
        </p:spPr>
        <p:txBody>
          <a:bodyPr wrap="square" lIns="0" tIns="0" rIns="0" bIns="0" rtlCol="0" anchor="t"/>
          <a:lstStyle/>
          <a:p>
            <a:pPr algn="ctr" indent="0" marL="0">
              <a:buNone/>
            </a:pPr>
            <a:r>
              <a:rPr lang="en-US" sz="1600" dirty="0">
                <a:solidFill>
                  <a:schemeClr val="tx2"/>
                </a:solidFill>
                <a:latin typeface="Calibri" pitchFamily="34" charset="0"/>
                <a:ea typeface="Calibri" pitchFamily="34" charset="-122"/>
                <a:cs typeface="Calibri" pitchFamily="34" charset="-120"/>
              </a:rPr>
              <a:t>improved when moved</a:t>
            </a:r>
            <a:endParaRPr lang="en-US" sz="1600" dirty="0"/>
          </a:p>
        </p:txBody>
      </p:sp>
      <p:sp>
        <p:nvSpPr>
          <p:cNvPr id="14" name="Shape 12"/>
          <p:cNvSpPr/>
          <p:nvPr/>
        </p:nvSpPr>
        <p:spPr>
          <a:xfrm>
            <a:off x="8732520" y="2075688"/>
            <a:ext cx="274320" cy="310896"/>
          </a:xfrm>
          <a:prstGeom prst="rightArrow">
            <a:avLst/>
          </a:prstGeom>
          <a:solidFill>
            <a:schemeClr val="accent5"/>
          </a:solidFill>
          <a:ln w="12700">
            <a:solidFill>
              <a:schemeClr val="accent5"/>
            </a:solidFill>
            <a:prstDash val="solid"/>
          </a:ln>
        </p:spPr>
      </p:sp>
      <p:sp>
        <p:nvSpPr>
          <p:cNvPr id="15" name="Shape 13"/>
          <p:cNvSpPr/>
          <p:nvPr/>
        </p:nvSpPr>
        <p:spPr>
          <a:xfrm>
            <a:off x="9052560" y="1325880"/>
            <a:ext cx="2468880" cy="1828800"/>
          </a:xfrm>
          <a:prstGeom prst="roundRect">
            <a:avLst>
              <a:gd name="adj" fmla="val 4000"/>
            </a:avLst>
          </a:prstGeom>
          <a:solidFill>
            <a:schemeClr val="tx1"/>
          </a:solidFill>
          <a:ln w="12700">
            <a:solidFill>
              <a:schemeClr val="tx1"/>
            </a:solidFill>
            <a:prstDash val="solid"/>
          </a:ln>
        </p:spPr>
      </p:sp>
      <p:sp>
        <p:nvSpPr>
          <p:cNvPr id="16" name="Text 14"/>
          <p:cNvSpPr txBox="1"/>
          <p:nvPr/>
        </p:nvSpPr>
        <p:spPr>
          <a:xfrm>
            <a:off x="9235440" y="1463040"/>
            <a:ext cx="2103120" cy="86868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98</a:t>
            </a:r>
            <a:endParaRPr lang="en-US" sz="4000" dirty="0"/>
          </a:p>
        </p:txBody>
      </p:sp>
      <p:sp>
        <p:nvSpPr>
          <p:cNvPr id="17" name="Text 15"/>
          <p:cNvSpPr txBox="1"/>
          <p:nvPr/>
        </p:nvSpPr>
        <p:spPr>
          <a:xfrm>
            <a:off x="9235440" y="2377440"/>
            <a:ext cx="2103120" cy="640080"/>
          </a:xfrm>
          <a:prstGeom prst="rect">
            <a:avLst/>
          </a:prstGeom>
          <a:noFill/>
          <a:ln/>
        </p:spPr>
        <p:txBody>
          <a:bodyPr wrap="square" lIns="0" tIns="0" rIns="0" bIns="0" rtlCol="0" anchor="t"/>
          <a:lstStyle/>
          <a:p>
            <a:pPr algn="ctr" indent="0" marL="0">
              <a:buNone/>
            </a:pPr>
            <a:r>
              <a:rPr lang="en-US" sz="1600" dirty="0">
                <a:solidFill>
                  <a:schemeClr val="bg1"/>
                </a:solidFill>
                <a:latin typeface="Calibri" pitchFamily="34" charset="0"/>
                <a:ea typeface="Calibri" pitchFamily="34" charset="-122"/>
                <a:cs typeface="Calibri" pitchFamily="34" charset="-120"/>
              </a:rPr>
              <a:t>of those moved earlier</a:t>
            </a:r>
            <a:endParaRPr lang="en-US" sz="1600" dirty="0"/>
          </a:p>
        </p:txBody>
      </p:sp>
      <p:sp>
        <p:nvSpPr>
          <p:cNvPr id="18" name="Shape 16"/>
          <p:cNvSpPr/>
          <p:nvPr/>
        </p:nvSpPr>
        <p:spPr>
          <a:xfrm>
            <a:off x="548640" y="3429000"/>
            <a:ext cx="5394960" cy="2697480"/>
          </a:xfrm>
          <a:prstGeom prst="roundRect">
            <a:avLst>
              <a:gd name="adj" fmla="val 2712"/>
            </a:avLst>
          </a:prstGeom>
          <a:solidFill>
            <a:schemeClr val="bg2"/>
          </a:solidFill>
          <a:ln w="12700">
            <a:solidFill>
              <a:schemeClr val="bg2"/>
            </a:solidFill>
            <a:prstDash val="solid"/>
          </a:ln>
        </p:spPr>
      </p:sp>
      <p:sp>
        <p:nvSpPr>
          <p:cNvPr id="19" name="Shape 17"/>
          <p:cNvSpPr/>
          <p:nvPr/>
        </p:nvSpPr>
        <p:spPr>
          <a:xfrm>
            <a:off x="777240" y="3657600"/>
            <a:ext cx="548640" cy="548640"/>
          </a:xfrm>
          <a:prstGeom prst="ellipse">
            <a:avLst/>
          </a:prstGeom>
          <a:solidFill>
            <a:schemeClr val="accent2"/>
          </a:solidFill>
          <a:ln w="12700">
            <a:solidFill>
              <a:schemeClr val="accent2"/>
            </a:solidFill>
            <a:prstDash val="solid"/>
          </a:ln>
        </p:spPr>
      </p:sp>
      <p:pic>
        <p:nvPicPr>
          <p:cNvPr id="20" name="Image 0" descr="preencoded.png">    </p:cNvPr>
          <p:cNvPicPr>
            <a:picLocks noChangeAspect="1"/>
          </p:cNvPicPr>
          <p:nvPr/>
        </p:nvPicPr>
        <p:blipFill>
          <a:blip r:embed="rId1"/>
          <a:stretch>
            <a:fillRect/>
          </a:stretch>
        </p:blipFill>
        <p:spPr>
          <a:xfrm>
            <a:off x="908914" y="3789274"/>
            <a:ext cx="285293" cy="285293"/>
          </a:xfrm>
          <a:prstGeom prst="rect">
            <a:avLst/>
          </a:prstGeom>
        </p:spPr>
      </p:pic>
      <p:sp>
        <p:nvSpPr>
          <p:cNvPr id="21" name="Text 18"/>
          <p:cNvSpPr txBox="1"/>
          <p:nvPr/>
        </p:nvSpPr>
        <p:spPr>
          <a:xfrm>
            <a:off x="1508760" y="3657600"/>
            <a:ext cx="4206240" cy="54864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The rule we tested</a:t>
            </a:r>
            <a:endParaRPr lang="en-US" sz="1800" dirty="0"/>
          </a:p>
        </p:txBody>
      </p:sp>
      <p:sp>
        <p:nvSpPr>
          <p:cNvPr id="22" name="Text 19"/>
          <p:cNvSpPr txBox="1"/>
          <p:nvPr/>
        </p:nvSpPr>
        <p:spPr>
          <a:xfrm>
            <a:off x="777240" y="4389120"/>
            <a:ext cx="4937760" cy="164592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Try moving each high-risk flight one or two hours earlier or later on the same day. Keep the move only if its risk clearly drops.</a:t>
            </a:r>
            <a:endParaRPr lang="en-US" sz="1600" dirty="0"/>
          </a:p>
        </p:txBody>
      </p:sp>
      <p:sp>
        <p:nvSpPr>
          <p:cNvPr id="23" name="Shape 20"/>
          <p:cNvSpPr/>
          <p:nvPr/>
        </p:nvSpPr>
        <p:spPr>
          <a:xfrm>
            <a:off x="6172200" y="3429000"/>
            <a:ext cx="5394960" cy="2697480"/>
          </a:xfrm>
          <a:prstGeom prst="roundRect">
            <a:avLst>
              <a:gd name="adj" fmla="val 2712"/>
            </a:avLst>
          </a:prstGeom>
          <a:solidFill>
            <a:schemeClr val="tx1"/>
          </a:solidFill>
          <a:ln w="12700">
            <a:solidFill>
              <a:schemeClr val="tx1"/>
            </a:solidFill>
            <a:prstDash val="solid"/>
          </a:ln>
        </p:spPr>
      </p:sp>
      <p:sp>
        <p:nvSpPr>
          <p:cNvPr id="24" name="Shape 21"/>
          <p:cNvSpPr/>
          <p:nvPr/>
        </p:nvSpPr>
        <p:spPr>
          <a:xfrm>
            <a:off x="6400800" y="3657600"/>
            <a:ext cx="548640" cy="548640"/>
          </a:xfrm>
          <a:prstGeom prst="ellipse">
            <a:avLst/>
          </a:prstGeom>
          <a:solidFill>
            <a:schemeClr val="accent1"/>
          </a:solidFill>
          <a:ln w="12700">
            <a:solidFill>
              <a:schemeClr val="accent1"/>
            </a:solidFill>
            <a:prstDash val="solid"/>
          </a:ln>
        </p:spPr>
      </p:sp>
      <p:pic>
        <p:nvPicPr>
          <p:cNvPr id="25" name="Image 1" descr="preencoded.png">    </p:cNvPr>
          <p:cNvPicPr>
            <a:picLocks noChangeAspect="1"/>
          </p:cNvPicPr>
          <p:nvPr/>
        </p:nvPicPr>
        <p:blipFill>
          <a:blip r:embed="rId2"/>
          <a:stretch>
            <a:fillRect/>
          </a:stretch>
        </p:blipFill>
        <p:spPr>
          <a:xfrm>
            <a:off x="6532474" y="3789274"/>
            <a:ext cx="285293" cy="285293"/>
          </a:xfrm>
          <a:prstGeom prst="rect">
            <a:avLst/>
          </a:prstGeom>
        </p:spPr>
      </p:pic>
      <p:sp>
        <p:nvSpPr>
          <p:cNvPr id="26" name="Text 22"/>
          <p:cNvSpPr txBox="1"/>
          <p:nvPr/>
        </p:nvSpPr>
        <p:spPr>
          <a:xfrm>
            <a:off x="7132320" y="3657600"/>
            <a:ext cx="4206240" cy="54864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The lesson</a:t>
            </a:r>
            <a:endParaRPr lang="en-US" sz="1800" dirty="0"/>
          </a:p>
        </p:txBody>
      </p:sp>
      <p:sp>
        <p:nvSpPr>
          <p:cNvPr id="27" name="Text 23"/>
          <p:cNvSpPr txBox="1"/>
          <p:nvPr/>
        </p:nvSpPr>
        <p:spPr>
          <a:xfrm>
            <a:off x="6400800" y="4389120"/>
            <a:ext cx="4937760" cy="100584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Delay risk comes mostly from the day and the route, not the exact hour. Moving earlier helps a little.</a:t>
            </a:r>
            <a:endParaRPr lang="en-US" sz="1600" dirty="0"/>
          </a:p>
        </p:txBody>
      </p:sp>
      <p:sp>
        <p:nvSpPr>
          <p:cNvPr id="28" name="Text 24"/>
          <p:cNvSpPr txBox="1"/>
          <p:nvPr/>
        </p:nvSpPr>
        <p:spPr>
          <a:xfrm>
            <a:off x="6400800" y="5440680"/>
            <a:ext cx="4937760" cy="54864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what-if study: it ignores crews and passenger connections.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7A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502920"/>
            <a:ext cx="10058400" cy="73152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What we learned</a:t>
            </a:r>
            <a:endParaRPr lang="en-US" sz="3600" dirty="0"/>
          </a:p>
        </p:txBody>
      </p:sp>
      <p:sp>
        <p:nvSpPr>
          <p:cNvPr id="3" name="Shape 1"/>
          <p:cNvSpPr/>
          <p:nvPr/>
        </p:nvSpPr>
        <p:spPr>
          <a:xfrm>
            <a:off x="731520" y="1417320"/>
            <a:ext cx="475488" cy="475488"/>
          </a:xfrm>
          <a:prstGeom prst="ellipse">
            <a:avLst/>
          </a:prstGeom>
          <a:solidFill>
            <a:schemeClr val="accent1"/>
          </a:solidFill>
          <a:ln w="12700">
            <a:solidFill>
              <a:schemeClr val="accent1"/>
            </a:solidFill>
            <a:prstDash val="solid"/>
          </a:ln>
        </p:spPr>
      </p:sp>
      <p:pic>
        <p:nvPicPr>
          <p:cNvPr id="4" name="Image 0" descr="preencoded.png">    </p:cNvPr>
          <p:cNvPicPr>
            <a:picLocks noChangeAspect="1"/>
          </p:cNvPicPr>
          <p:nvPr/>
        </p:nvPicPr>
        <p:blipFill>
          <a:blip r:embed="rId1"/>
          <a:stretch>
            <a:fillRect/>
          </a:stretch>
        </p:blipFill>
        <p:spPr>
          <a:xfrm>
            <a:off x="845637" y="1531437"/>
            <a:ext cx="247254" cy="247254"/>
          </a:xfrm>
          <a:prstGeom prst="rect">
            <a:avLst/>
          </a:prstGeom>
        </p:spPr>
      </p:pic>
      <p:sp>
        <p:nvSpPr>
          <p:cNvPr id="5" name="Text 2"/>
          <p:cNvSpPr txBox="1"/>
          <p:nvPr/>
        </p:nvSpPr>
        <p:spPr>
          <a:xfrm>
            <a:off x="1417320" y="1380744"/>
            <a:ext cx="10058400" cy="548640"/>
          </a:xfrm>
          <a:prstGeom prst="rect">
            <a:avLst/>
          </a:prstGeom>
          <a:noFill/>
          <a:ln/>
        </p:spPr>
        <p:txBody>
          <a:bodyPr wrap="square" lIns="0" tIns="0" rIns="0" bIns="0" rtlCol="0" anchor="ctr"/>
          <a:lstStyle/>
          <a:p>
            <a:pPr indent="0" marL="0">
              <a:buNone/>
            </a:pPr>
            <a:r>
              <a:rPr lang="en-US" sz="1800" dirty="0">
                <a:solidFill>
                  <a:schemeClr val="bg1"/>
                </a:solidFill>
                <a:latin typeface="Calibri" pitchFamily="34" charset="0"/>
                <a:ea typeface="Calibri" pitchFamily="34" charset="-122"/>
                <a:cs typeface="Calibri" pitchFamily="34" charset="-120"/>
              </a:rPr>
              <a:t>Delays can be predicted a day ahead without peeking at the future</a:t>
            </a:r>
            <a:endParaRPr lang="en-US" sz="1800" dirty="0"/>
          </a:p>
        </p:txBody>
      </p:sp>
      <p:sp>
        <p:nvSpPr>
          <p:cNvPr id="6" name="Shape 3"/>
          <p:cNvSpPr/>
          <p:nvPr/>
        </p:nvSpPr>
        <p:spPr>
          <a:xfrm>
            <a:off x="731520" y="2103120"/>
            <a:ext cx="475488" cy="475488"/>
          </a:xfrm>
          <a:prstGeom prst="ellipse">
            <a:avLst/>
          </a:prstGeom>
          <a:solidFill>
            <a:schemeClr val="accent1"/>
          </a:solidFill>
          <a:ln w="12700">
            <a:solidFill>
              <a:schemeClr val="accent1"/>
            </a:solidFill>
            <a:prstDash val="solid"/>
          </a:ln>
        </p:spPr>
      </p:sp>
      <p:pic>
        <p:nvPicPr>
          <p:cNvPr id="7" name="Image 1" descr="preencoded.png">    </p:cNvPr>
          <p:cNvPicPr>
            <a:picLocks noChangeAspect="1"/>
          </p:cNvPicPr>
          <p:nvPr/>
        </p:nvPicPr>
        <p:blipFill>
          <a:blip r:embed="rId2"/>
          <a:stretch>
            <a:fillRect/>
          </a:stretch>
        </p:blipFill>
        <p:spPr>
          <a:xfrm>
            <a:off x="845637" y="2217237"/>
            <a:ext cx="247254" cy="247254"/>
          </a:xfrm>
          <a:prstGeom prst="rect">
            <a:avLst/>
          </a:prstGeom>
        </p:spPr>
      </p:pic>
      <p:sp>
        <p:nvSpPr>
          <p:cNvPr id="8" name="Text 4"/>
          <p:cNvSpPr txBox="1"/>
          <p:nvPr/>
        </p:nvSpPr>
        <p:spPr>
          <a:xfrm>
            <a:off x="1417320" y="2066544"/>
            <a:ext cx="10058400" cy="548640"/>
          </a:xfrm>
          <a:prstGeom prst="rect">
            <a:avLst/>
          </a:prstGeom>
          <a:noFill/>
          <a:ln/>
        </p:spPr>
        <p:txBody>
          <a:bodyPr wrap="square" lIns="0" tIns="0" rIns="0" bIns="0" rtlCol="0" anchor="ctr"/>
          <a:lstStyle/>
          <a:p>
            <a:pPr indent="0" marL="0">
              <a:buNone/>
            </a:pPr>
            <a:r>
              <a:rPr lang="en-US" sz="1800" dirty="0">
                <a:solidFill>
                  <a:schemeClr val="bg1"/>
                </a:solidFill>
                <a:latin typeface="Calibri" pitchFamily="34" charset="0"/>
                <a:ea typeface="Calibri" pitchFamily="34" charset="-122"/>
                <a:cs typeface="Calibri" pitchFamily="34" charset="-120"/>
              </a:rPr>
              <a:t>Our models clearly beat guessing, even without weather data</a:t>
            </a:r>
            <a:endParaRPr lang="en-US" sz="1800" dirty="0"/>
          </a:p>
        </p:txBody>
      </p:sp>
      <p:sp>
        <p:nvSpPr>
          <p:cNvPr id="9" name="Shape 5"/>
          <p:cNvSpPr/>
          <p:nvPr/>
        </p:nvSpPr>
        <p:spPr>
          <a:xfrm>
            <a:off x="731520" y="2788920"/>
            <a:ext cx="475488" cy="475488"/>
          </a:xfrm>
          <a:prstGeom prst="ellipse">
            <a:avLst/>
          </a:prstGeom>
          <a:solidFill>
            <a:schemeClr val="accent1"/>
          </a:solidFill>
          <a:ln w="12700">
            <a:solidFill>
              <a:schemeClr val="accent1"/>
            </a:solidFill>
            <a:prstDash val="solid"/>
          </a:ln>
        </p:spPr>
      </p:sp>
      <p:pic>
        <p:nvPicPr>
          <p:cNvPr id="10" name="Image 2" descr="preencoded.png">    </p:cNvPr>
          <p:cNvPicPr>
            <a:picLocks noChangeAspect="1"/>
          </p:cNvPicPr>
          <p:nvPr/>
        </p:nvPicPr>
        <p:blipFill>
          <a:blip r:embed="rId3"/>
          <a:stretch>
            <a:fillRect/>
          </a:stretch>
        </p:blipFill>
        <p:spPr>
          <a:xfrm>
            <a:off x="845637" y="2903037"/>
            <a:ext cx="247254" cy="247254"/>
          </a:xfrm>
          <a:prstGeom prst="rect">
            <a:avLst/>
          </a:prstGeom>
        </p:spPr>
      </p:pic>
      <p:sp>
        <p:nvSpPr>
          <p:cNvPr id="11" name="Text 6"/>
          <p:cNvSpPr txBox="1"/>
          <p:nvPr/>
        </p:nvSpPr>
        <p:spPr>
          <a:xfrm>
            <a:off x="1417320" y="2752344"/>
            <a:ext cx="10058400" cy="548640"/>
          </a:xfrm>
          <a:prstGeom prst="rect">
            <a:avLst/>
          </a:prstGeom>
          <a:noFill/>
          <a:ln/>
        </p:spPr>
        <p:txBody>
          <a:bodyPr wrap="square" lIns="0" tIns="0" rIns="0" bIns="0" rtlCol="0" anchor="ctr"/>
          <a:lstStyle/>
          <a:p>
            <a:pPr indent="0" marL="0">
              <a:buNone/>
            </a:pPr>
            <a:r>
              <a:rPr lang="en-US" sz="1800" dirty="0">
                <a:solidFill>
                  <a:schemeClr val="bg1"/>
                </a:solidFill>
                <a:latin typeface="Calibri" pitchFamily="34" charset="0"/>
                <a:ea typeface="Calibri" pitchFamily="34" charset="-122"/>
                <a:cs typeface="Calibri" pitchFamily="34" charset="-120"/>
              </a:rPr>
              <a:t>Re-adjusting every day keeps the model reliable when the season changes</a:t>
            </a:r>
            <a:endParaRPr lang="en-US" sz="1800" dirty="0"/>
          </a:p>
        </p:txBody>
      </p:sp>
      <p:sp>
        <p:nvSpPr>
          <p:cNvPr id="12" name="Shape 7"/>
          <p:cNvSpPr/>
          <p:nvPr/>
        </p:nvSpPr>
        <p:spPr>
          <a:xfrm>
            <a:off x="731520" y="3474720"/>
            <a:ext cx="475488" cy="475488"/>
          </a:xfrm>
          <a:prstGeom prst="ellipse">
            <a:avLst/>
          </a:prstGeom>
          <a:solidFill>
            <a:schemeClr val="accent1"/>
          </a:solidFill>
          <a:ln w="12700">
            <a:solidFill>
              <a:schemeClr val="accent1"/>
            </a:solidFill>
            <a:prstDash val="solid"/>
          </a:ln>
        </p:spPr>
      </p:sp>
      <p:pic>
        <p:nvPicPr>
          <p:cNvPr id="13" name="Image 3" descr="preencoded.png">    </p:cNvPr>
          <p:cNvPicPr>
            <a:picLocks noChangeAspect="1"/>
          </p:cNvPicPr>
          <p:nvPr/>
        </p:nvPicPr>
        <p:blipFill>
          <a:blip r:embed="rId4"/>
          <a:stretch>
            <a:fillRect/>
          </a:stretch>
        </p:blipFill>
        <p:spPr>
          <a:xfrm>
            <a:off x="845637" y="3588837"/>
            <a:ext cx="247254" cy="247254"/>
          </a:xfrm>
          <a:prstGeom prst="rect">
            <a:avLst/>
          </a:prstGeom>
        </p:spPr>
      </p:pic>
      <p:sp>
        <p:nvSpPr>
          <p:cNvPr id="14" name="Text 8"/>
          <p:cNvSpPr txBox="1"/>
          <p:nvPr/>
        </p:nvSpPr>
        <p:spPr>
          <a:xfrm>
            <a:off x="1417320" y="3438144"/>
            <a:ext cx="10058400" cy="548640"/>
          </a:xfrm>
          <a:prstGeom prst="rect">
            <a:avLst/>
          </a:prstGeom>
          <a:noFill/>
          <a:ln/>
        </p:spPr>
        <p:txBody>
          <a:bodyPr wrap="square" lIns="0" tIns="0" rIns="0" bIns="0" rtlCol="0" anchor="ctr"/>
          <a:lstStyle/>
          <a:p>
            <a:pPr indent="0" marL="0">
              <a:buNone/>
            </a:pPr>
            <a:r>
              <a:rPr lang="en-US" sz="1800" dirty="0">
                <a:solidFill>
                  <a:schemeClr val="bg1"/>
                </a:solidFill>
                <a:latin typeface="Calibri" pitchFamily="34" charset="0"/>
                <a:ea typeface="Calibri" pitchFamily="34" charset="-122"/>
                <a:cs typeface="Calibri" pitchFamily="34" charset="-120"/>
              </a:rPr>
              <a:t>Next, in Phase 2: a deep learning model on the same data and the same test</a:t>
            </a:r>
            <a:endParaRPr lang="en-US" sz="1800" dirty="0"/>
          </a:p>
        </p:txBody>
      </p:sp>
      <p:sp>
        <p:nvSpPr>
          <p:cNvPr id="15" name="Shape 9"/>
          <p:cNvSpPr/>
          <p:nvPr/>
        </p:nvSpPr>
        <p:spPr>
          <a:xfrm>
            <a:off x="731520" y="4343400"/>
            <a:ext cx="2057400" cy="1097280"/>
          </a:xfrm>
          <a:prstGeom prst="roundRect">
            <a:avLst>
              <a:gd name="adj" fmla="val 6667"/>
            </a:avLst>
          </a:prstGeom>
          <a:solidFill>
            <a:schemeClr val="tx2"/>
          </a:solidFill>
          <a:ln w="12700">
            <a:solidFill>
              <a:schemeClr val="tx2"/>
            </a:solidFill>
            <a:prstDash val="solid"/>
          </a:ln>
        </p:spPr>
      </p:sp>
      <p:sp>
        <p:nvSpPr>
          <p:cNvPr id="16" name="Text 10"/>
          <p:cNvSpPr txBox="1"/>
          <p:nvPr/>
        </p:nvSpPr>
        <p:spPr>
          <a:xfrm>
            <a:off x="868680" y="4434840"/>
            <a:ext cx="1783080" cy="50292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Atanu Adhikari</a:t>
            </a:r>
            <a:endParaRPr lang="en-US" sz="1400" dirty="0"/>
          </a:p>
        </p:txBody>
      </p:sp>
      <p:sp>
        <p:nvSpPr>
          <p:cNvPr id="17" name="Text 11"/>
          <p:cNvSpPr txBox="1"/>
          <p:nvPr/>
        </p:nvSpPr>
        <p:spPr>
          <a:xfrm>
            <a:off x="868680" y="4937760"/>
            <a:ext cx="1783080" cy="411480"/>
          </a:xfrm>
          <a:prstGeom prst="rect">
            <a:avLst/>
          </a:prstGeom>
          <a:noFill/>
          <a:ln/>
        </p:spPr>
        <p:txBody>
          <a:bodyPr wrap="square" lIns="0" tIns="0" rIns="0" bIns="0" rtlCol="0" anchor="t"/>
          <a:lstStyle/>
          <a:p>
            <a:pPr indent="0" marL="0">
              <a:buNone/>
            </a:pPr>
            <a:r>
              <a:rPr lang="en-US" sz="1200" dirty="0">
                <a:solidFill>
                  <a:schemeClr val="accent3"/>
                </a:solidFill>
                <a:latin typeface="Calibri" pitchFamily="34" charset="0"/>
                <a:ea typeface="Calibri" pitchFamily="34" charset="-122"/>
                <a:cs typeface="Calibri" pitchFamily="34" charset="-120"/>
              </a:rPr>
              <a:t>Data exploration, slides</a:t>
            </a:r>
            <a:endParaRPr lang="en-US" sz="1200" dirty="0"/>
          </a:p>
        </p:txBody>
      </p:sp>
      <p:sp>
        <p:nvSpPr>
          <p:cNvPr id="18" name="Shape 12"/>
          <p:cNvSpPr/>
          <p:nvPr/>
        </p:nvSpPr>
        <p:spPr>
          <a:xfrm>
            <a:off x="2926080" y="4343400"/>
            <a:ext cx="2057400" cy="1097280"/>
          </a:xfrm>
          <a:prstGeom prst="roundRect">
            <a:avLst>
              <a:gd name="adj" fmla="val 6667"/>
            </a:avLst>
          </a:prstGeom>
          <a:solidFill>
            <a:schemeClr val="tx2"/>
          </a:solidFill>
          <a:ln w="12700">
            <a:solidFill>
              <a:schemeClr val="tx2"/>
            </a:solidFill>
            <a:prstDash val="solid"/>
          </a:ln>
        </p:spPr>
      </p:sp>
      <p:sp>
        <p:nvSpPr>
          <p:cNvPr id="19" name="Text 13"/>
          <p:cNvSpPr txBox="1"/>
          <p:nvPr/>
        </p:nvSpPr>
        <p:spPr>
          <a:xfrm>
            <a:off x="3063240" y="4434840"/>
            <a:ext cx="1783080" cy="50292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Sambhav Kumar</a:t>
            </a:r>
            <a:endParaRPr lang="en-US" sz="1400" dirty="0"/>
          </a:p>
        </p:txBody>
      </p:sp>
      <p:sp>
        <p:nvSpPr>
          <p:cNvPr id="20" name="Text 14"/>
          <p:cNvSpPr txBox="1"/>
          <p:nvPr/>
        </p:nvSpPr>
        <p:spPr>
          <a:xfrm>
            <a:off x="3063240" y="4937760"/>
            <a:ext cx="1783080" cy="411480"/>
          </a:xfrm>
          <a:prstGeom prst="rect">
            <a:avLst/>
          </a:prstGeom>
          <a:noFill/>
          <a:ln/>
        </p:spPr>
        <p:txBody>
          <a:bodyPr wrap="square" lIns="0" tIns="0" rIns="0" bIns="0" rtlCol="0" anchor="t"/>
          <a:lstStyle/>
          <a:p>
            <a:pPr indent="0" marL="0">
              <a:buNone/>
            </a:pPr>
            <a:r>
              <a:rPr lang="en-US" sz="1200" dirty="0">
                <a:solidFill>
                  <a:schemeClr val="accent3"/>
                </a:solidFill>
                <a:latin typeface="Calibri" pitchFamily="34" charset="0"/>
                <a:ea typeface="Calibri" pitchFamily="34" charset="-122"/>
                <a:cs typeface="Calibri" pitchFamily="34" charset="-120"/>
              </a:rPr>
              <a:t>Clues (features), README</a:t>
            </a:r>
            <a:endParaRPr lang="en-US" sz="1200" dirty="0"/>
          </a:p>
        </p:txBody>
      </p:sp>
      <p:sp>
        <p:nvSpPr>
          <p:cNvPr id="21" name="Shape 15"/>
          <p:cNvSpPr/>
          <p:nvPr/>
        </p:nvSpPr>
        <p:spPr>
          <a:xfrm>
            <a:off x="5120640" y="4343400"/>
            <a:ext cx="2057400" cy="1097280"/>
          </a:xfrm>
          <a:prstGeom prst="roundRect">
            <a:avLst>
              <a:gd name="adj" fmla="val 6667"/>
            </a:avLst>
          </a:prstGeom>
          <a:solidFill>
            <a:schemeClr val="tx2"/>
          </a:solidFill>
          <a:ln w="12700">
            <a:solidFill>
              <a:schemeClr val="tx2"/>
            </a:solidFill>
            <a:prstDash val="solid"/>
          </a:ln>
        </p:spPr>
      </p:sp>
      <p:sp>
        <p:nvSpPr>
          <p:cNvPr id="22" name="Text 16"/>
          <p:cNvSpPr txBox="1"/>
          <p:nvPr/>
        </p:nvSpPr>
        <p:spPr>
          <a:xfrm>
            <a:off x="5257800" y="4434840"/>
            <a:ext cx="1783080" cy="50292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Nishant Ranjan Singh</a:t>
            </a:r>
            <a:endParaRPr lang="en-US" sz="1400" dirty="0"/>
          </a:p>
        </p:txBody>
      </p:sp>
      <p:sp>
        <p:nvSpPr>
          <p:cNvPr id="23" name="Text 17"/>
          <p:cNvSpPr txBox="1"/>
          <p:nvPr/>
        </p:nvSpPr>
        <p:spPr>
          <a:xfrm>
            <a:off x="5257800" y="4937760"/>
            <a:ext cx="1783080" cy="411480"/>
          </a:xfrm>
          <a:prstGeom prst="rect">
            <a:avLst/>
          </a:prstGeom>
          <a:noFill/>
          <a:ln/>
        </p:spPr>
        <p:txBody>
          <a:bodyPr wrap="square" lIns="0" tIns="0" rIns="0" bIns="0" rtlCol="0" anchor="t"/>
          <a:lstStyle/>
          <a:p>
            <a:pPr indent="0" marL="0">
              <a:buNone/>
            </a:pPr>
            <a:r>
              <a:rPr lang="en-US" sz="1200" dirty="0">
                <a:solidFill>
                  <a:schemeClr val="accent3"/>
                </a:solidFill>
                <a:latin typeface="Calibri" pitchFamily="34" charset="0"/>
                <a:ea typeface="Calibri" pitchFamily="34" charset="-122"/>
                <a:cs typeface="Calibri" pitchFamily="34" charset="-120"/>
              </a:rPr>
              <a:t>Model training, report</a:t>
            </a:r>
            <a:endParaRPr lang="en-US" sz="1200" dirty="0"/>
          </a:p>
        </p:txBody>
      </p:sp>
      <p:sp>
        <p:nvSpPr>
          <p:cNvPr id="24" name="Shape 18"/>
          <p:cNvSpPr/>
          <p:nvPr/>
        </p:nvSpPr>
        <p:spPr>
          <a:xfrm>
            <a:off x="7315200" y="4343400"/>
            <a:ext cx="2057400" cy="1097280"/>
          </a:xfrm>
          <a:prstGeom prst="roundRect">
            <a:avLst>
              <a:gd name="adj" fmla="val 6667"/>
            </a:avLst>
          </a:prstGeom>
          <a:solidFill>
            <a:schemeClr val="tx2"/>
          </a:solidFill>
          <a:ln w="12700">
            <a:solidFill>
              <a:schemeClr val="tx2"/>
            </a:solidFill>
            <a:prstDash val="solid"/>
          </a:ln>
        </p:spPr>
      </p:sp>
      <p:sp>
        <p:nvSpPr>
          <p:cNvPr id="25" name="Text 19"/>
          <p:cNvSpPr txBox="1"/>
          <p:nvPr/>
        </p:nvSpPr>
        <p:spPr>
          <a:xfrm>
            <a:off x="7452360" y="4434840"/>
            <a:ext cx="1783080" cy="50292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Sankalp M Tellur</a:t>
            </a:r>
            <a:endParaRPr lang="en-US" sz="1400" dirty="0"/>
          </a:p>
        </p:txBody>
      </p:sp>
      <p:sp>
        <p:nvSpPr>
          <p:cNvPr id="26" name="Text 20"/>
          <p:cNvSpPr txBox="1"/>
          <p:nvPr/>
        </p:nvSpPr>
        <p:spPr>
          <a:xfrm>
            <a:off x="7452360" y="4937760"/>
            <a:ext cx="1783080" cy="411480"/>
          </a:xfrm>
          <a:prstGeom prst="rect">
            <a:avLst/>
          </a:prstGeom>
          <a:noFill/>
          <a:ln/>
        </p:spPr>
        <p:txBody>
          <a:bodyPr wrap="square" lIns="0" tIns="0" rIns="0" bIns="0" rtlCol="0" anchor="t"/>
          <a:lstStyle/>
          <a:p>
            <a:pPr indent="0" marL="0">
              <a:buNone/>
            </a:pPr>
            <a:r>
              <a:rPr lang="en-US" sz="1200" dirty="0">
                <a:solidFill>
                  <a:schemeClr val="accent3"/>
                </a:solidFill>
                <a:latin typeface="Calibri" pitchFamily="34" charset="0"/>
                <a:ea typeface="Calibri" pitchFamily="34" charset="-122"/>
                <a:cs typeface="Calibri" pitchFamily="34" charset="-120"/>
              </a:rPr>
              <a:t>Results and evaluation</a:t>
            </a:r>
            <a:endParaRPr lang="en-US" sz="1200" dirty="0"/>
          </a:p>
        </p:txBody>
      </p:sp>
      <p:sp>
        <p:nvSpPr>
          <p:cNvPr id="27" name="Shape 21"/>
          <p:cNvSpPr/>
          <p:nvPr/>
        </p:nvSpPr>
        <p:spPr>
          <a:xfrm>
            <a:off x="9509760" y="4343400"/>
            <a:ext cx="2057400" cy="1097280"/>
          </a:xfrm>
          <a:prstGeom prst="roundRect">
            <a:avLst>
              <a:gd name="adj" fmla="val 6667"/>
            </a:avLst>
          </a:prstGeom>
          <a:solidFill>
            <a:schemeClr val="tx2"/>
          </a:solidFill>
          <a:ln w="12700">
            <a:solidFill>
              <a:schemeClr val="tx2"/>
            </a:solidFill>
            <a:prstDash val="solid"/>
          </a:ln>
        </p:spPr>
      </p:sp>
      <p:sp>
        <p:nvSpPr>
          <p:cNvPr id="28" name="Text 22"/>
          <p:cNvSpPr txBox="1"/>
          <p:nvPr/>
        </p:nvSpPr>
        <p:spPr>
          <a:xfrm>
            <a:off x="9646920" y="4434840"/>
            <a:ext cx="1783080" cy="50292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Prince Singh</a:t>
            </a:r>
            <a:endParaRPr lang="en-US" sz="1400" dirty="0"/>
          </a:p>
        </p:txBody>
      </p:sp>
      <p:sp>
        <p:nvSpPr>
          <p:cNvPr id="29" name="Text 23"/>
          <p:cNvSpPr txBox="1"/>
          <p:nvPr/>
        </p:nvSpPr>
        <p:spPr>
          <a:xfrm>
            <a:off x="9646920" y="4937760"/>
            <a:ext cx="1783080" cy="411480"/>
          </a:xfrm>
          <a:prstGeom prst="rect">
            <a:avLst/>
          </a:prstGeom>
          <a:noFill/>
          <a:ln/>
        </p:spPr>
        <p:txBody>
          <a:bodyPr wrap="square" lIns="0" tIns="0" rIns="0" bIns="0" rtlCol="0" anchor="t"/>
          <a:lstStyle/>
          <a:p>
            <a:pPr indent="0" marL="0">
              <a:buNone/>
            </a:pPr>
            <a:r>
              <a:rPr lang="en-US" sz="1200" dirty="0">
                <a:solidFill>
                  <a:schemeClr val="accent3"/>
                </a:solidFill>
                <a:latin typeface="Calibri" pitchFamily="34" charset="0"/>
                <a:ea typeface="Calibri" pitchFamily="34" charset="-122"/>
                <a:cs typeface="Calibri" pitchFamily="34" charset="-120"/>
              </a:rPr>
              <a:t>Rescheduling, report</a:t>
            </a:r>
            <a:endParaRPr lang="en-US" sz="1200" dirty="0"/>
          </a:p>
        </p:txBody>
      </p:sp>
      <p:sp>
        <p:nvSpPr>
          <p:cNvPr id="30" name="Text 24"/>
          <p:cNvSpPr txBox="1"/>
          <p:nvPr/>
        </p:nvSpPr>
        <p:spPr>
          <a:xfrm>
            <a:off x="731520" y="5760720"/>
            <a:ext cx="10058400" cy="54864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Thank you</a:t>
            </a:r>
            <a:endParaRPr lang="en-US" sz="2600" dirty="0"/>
          </a:p>
        </p:txBody>
      </p:sp>
    </p:spTree>
  </p:cSld>
  <p:clrMapOvr>
    <a:masterClrMapping/>
  </p:clrMapOvr>
</p:sld>
</file>

<file path=ppt/theme/theme1.xml><?xml version="1.0" encoding="utf-8"?>
<a:theme xmlns:a="http://schemas.openxmlformats.org/drawingml/2006/main" name="Night Departure">
  <a:themeElements>
    <a:clrScheme name="Night Departure">
      <a:dk1>
        <a:srgbClr val="0F1B2D"/>
      </a:dk1>
      <a:lt1>
        <a:srgbClr val="FFFFFF"/>
      </a:lt1>
      <a:dk2>
        <a:srgbClr val="3A4A5E"/>
      </a:dk2>
      <a:lt2>
        <a:srgbClr val="EEF2F7"/>
      </a:lt2>
      <a:accent1>
        <a:srgbClr val="E8A33D"/>
      </a:accent1>
      <a:accent2>
        <a:srgbClr val="2F6690"/>
      </a:accent2>
      <a:accent3>
        <a:srgbClr val="8FB8DE"/>
      </a:accent3>
      <a:accent4>
        <a:srgbClr val="C8553D"/>
      </a:accent4>
      <a:accent5>
        <a:srgbClr val="8A97A6"/>
      </a:accent5>
      <a:accent6>
        <a:srgbClr val="3E8E7E"/>
      </a:accent6>
      <a:hlink>
        <a:srgbClr val="2F6690"/>
      </a:hlink>
      <a:folHlink>
        <a:srgbClr val="6C7A89"/>
      </a:folHlink>
    </a:clrScheme>
    <a:fontScheme name="Night Depar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Microsoft Office PowerPoint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Day-Ahead Flight Delay Risk Prediction</dc:title>
  <dc:subject>Advanced Machine Learning, Project 21, Phase 1</dc:subject>
  <dc:creator>Atanu Adhikari</dc:creator>
  <cp:lastModifiedBy>Atanu Adhikari</cp:lastModifiedBy>
  <cp:revision>1</cp:revision>
  <dcterms:created xsi:type="dcterms:W3CDTF">2026-10-26T13:21:52Z</dcterms:created>
  <dcterms:modified xsi:type="dcterms:W3CDTF">2026-10-26T13:21:52Z</dcterms:modified>
</cp:coreProperties>
</file>