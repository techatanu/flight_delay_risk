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9294d48-2782-0b3f-f9fd-72a0abbdaa96}">
          <p14:sldIdLst>
            <p14:sldId id="256"/>
            <p14:sldId id="257"/>
            <p14:sldId id="258"/>
          </p14:sldIdLst>
        </p14:section>
        <p14:section name="Data and EDA" id="{cc9f7713-d3bf-2c20-451a-c18a48cbc66b}">
          <p14:sldIdLst>
            <p14:sldId id="259"/>
            <p14:sldId id="260"/>
          </p14:sldIdLst>
        </p14:section>
        <p14:section name="Features" id="{2494ab99-d57e-a578-f8fc-0daaf0c0f08b}">
          <p14:sldIdLst>
            <p14:sldId id="261"/>
            <p14:sldId id="262"/>
          </p14:sldIdLst>
        </p14:section>
        <p14:section name="Methods" id="{aa2fd776-5b4d-ea3f-57e6-ec530e44121a}">
          <p14:sldIdLst>
            <p14:sldId id="263"/>
          </p14:sldIdLst>
        </p14:section>
        <p14:section name="Results" id="{15899aab-1fe2-d8c1-026a-8620f1f25f63}">
          <p14:sldIdLst>
            <p14:sldId id="264"/>
            <p14:sldId id="265"/>
            <p14:sldId id="266"/>
            <p14:sldId id="267"/>
            <p14:sldId id="268"/>
          </p14:sldIdLst>
        </p14:section>
        <p14:section name="Wrap-up" id="{ea49f0eb-93ea-3087-4707-94c65f1807b8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Delay rate by month: the test month is the worst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(Jan–Sep) 25.0%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0.235</c:v>
                </c:pt>
                <c:pt idx="1">
                  <c:v>0.238</c:v>
                </c:pt>
                <c:pt idx="2">
                  <c:v>0.236</c:v>
                </c:pt>
                <c:pt idx="3">
                  <c:v>0.288</c:v>
                </c:pt>
                <c:pt idx="4">
                  <c:v>0.227</c:v>
                </c:pt>
                <c:pt idx="5">
                  <c:v>0.315</c:v>
                </c:pt>
                <c:pt idx="6">
                  <c:v>0.322</c:v>
                </c:pt>
                <c:pt idx="7">
                  <c:v>0.246</c:v>
                </c:pt>
                <c:pt idx="8">
                  <c:v>0.137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(Oct–Nov) 17.8%</c:v>
                </c:pt>
              </c:strCache>
            </c:strRef>
          </c:tx>
          <c:spPr>
            <a:solidFill>
              <a:srgbClr val="8FB8DE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0.176</c:v>
                </c:pt>
                <c:pt idx="10">
                  <c:v>0.181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(Dec) 33.5%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0.335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4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Delay rate by scheduled departure hour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</c:v>
                </c:pt>
              </c:strCache>
            </c:strRef>
          </c:tx>
          <c:spPr>
            <a:solidFill>
              <a:srgbClr val="2F6690"/>
            </a:solidFill>
            <a:ln w="38100" cap="flat">
              <a:solidFill>
                <a:srgbClr val="2F66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6690"/>
              </a:solidFill>
              <a:ln w="9525" cap="flat">
                <a:solidFill>
                  <a:srgbClr val="2F66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05</c:v>
                  </c:pt>
                  <c:pt idx="1">
                    <c:v>06</c:v>
                  </c:pt>
                  <c:pt idx="2">
                    <c:v>07</c:v>
                  </c:pt>
                  <c:pt idx="3">
                    <c:v>08</c:v>
                  </c:pt>
                  <c:pt idx="4">
                    <c:v>09</c:v>
                  </c:pt>
                  <c:pt idx="5">
                    <c:v>10</c:v>
                  </c:pt>
                  <c:pt idx="6">
                    <c:v>11</c:v>
                  </c:pt>
                  <c:pt idx="7">
                    <c:v>12</c:v>
                  </c:pt>
                  <c:pt idx="8">
                    <c:v>13</c:v>
                  </c:pt>
                  <c:pt idx="9">
                    <c:v>14</c:v>
                  </c:pt>
                  <c:pt idx="10">
                    <c:v>15</c:v>
                  </c:pt>
                  <c:pt idx="11">
                    <c:v>16</c:v>
                  </c:pt>
                  <c:pt idx="12">
                    <c:v>17</c:v>
                  </c:pt>
                  <c:pt idx="13">
                    <c:v>18</c:v>
                  </c:pt>
                  <c:pt idx="14">
                    <c:v>19</c:v>
                  </c:pt>
                  <c:pt idx="15">
                    <c:v>20</c:v>
                  </c:pt>
                  <c:pt idx="16">
                    <c:v>21</c:v>
                  </c:pt>
                  <c:pt idx="17">
                    <c:v>22</c:v>
                  </c:pt>
                  <c:pt idx="18">
                    <c:v>23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0.105</c:v>
                </c:pt>
                <c:pt idx="1">
                  <c:v>0.119</c:v>
                </c:pt>
                <c:pt idx="2">
                  <c:v>0.12</c:v>
                </c:pt>
                <c:pt idx="3">
                  <c:v>0.163</c:v>
                </c:pt>
                <c:pt idx="4">
                  <c:v>0.171</c:v>
                </c:pt>
                <c:pt idx="5">
                  <c:v>0.185</c:v>
                </c:pt>
                <c:pt idx="6">
                  <c:v>0.185</c:v>
                </c:pt>
                <c:pt idx="7">
                  <c:v>0.207</c:v>
                </c:pt>
                <c:pt idx="8">
                  <c:v>0.237</c:v>
                </c:pt>
                <c:pt idx="9">
                  <c:v>0.265</c:v>
                </c:pt>
                <c:pt idx="10">
                  <c:v>0.303</c:v>
                </c:pt>
                <c:pt idx="11">
                  <c:v>0.303</c:v>
                </c:pt>
                <c:pt idx="12">
                  <c:v>0.335</c:v>
                </c:pt>
                <c:pt idx="13">
                  <c:v>0.335</c:v>
                </c:pt>
                <c:pt idx="14">
                  <c:v>0.349</c:v>
                </c:pt>
                <c:pt idx="15">
                  <c:v>0.354</c:v>
                </c:pt>
                <c:pt idx="16">
                  <c:v>0.374</c:v>
                </c:pt>
                <c:pt idx="17">
                  <c:v>0.339</c:v>
                </c:pt>
                <c:pt idx="18">
                  <c:v>0.301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A4A5E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3A4A5E"/>
                    </a:solidFill>
                    <a:latin typeface="+mn-lt"/>
                  </a:rPr>
                  <a:t>Departure hour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</c:v>
                </c:pt>
              </c:strCache>
            </c:strRef>
          </c:tx>
          <c:spPr>
            <a:solidFill>
              <a:srgbClr val="8FB8D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0.261</c:v>
                </c:pt>
                <c:pt idx="1">
                  <c:v>0.237</c:v>
                </c:pt>
                <c:pt idx="2">
                  <c:v>0.244</c:v>
                </c:pt>
                <c:pt idx="3">
                  <c:v>0.285</c:v>
                </c:pt>
                <c:pt idx="4">
                  <c:v>0.268</c:v>
                </c:pt>
                <c:pt idx="5">
                  <c:v>0.175</c:v>
                </c:pt>
                <c:pt idx="6">
                  <c:v>0.225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Test PR-AUC (December)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8A97A6"/>
            </a:solidFill>
            <a:effectLst/>
          </c:spPr>
          <c:invertIfNegative val="0"/>
          <c:dLbls>
            <c:numFmt formatCode="0.00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Prior rate</c:v>
                  </c:pt>
                  <c:pt idx="1">
                    <c:v>Route history</c:v>
                  </c:pt>
                  <c:pt idx="2">
                    <c:v>Logistic regression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0.335</c:v>
                </c:pt>
                <c:pt idx="1">
                  <c:v>0.381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Prior rate</c:v>
                  </c:pt>
                  <c:pt idx="1">
                    <c:v>Route history</c:v>
                  </c:pt>
                  <c:pt idx="2">
                    <c:v>Logistic regression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0.461</c:v>
                </c:pt>
                <c:pt idx="3">
                  <c:v>0.468</c:v>
                </c:pt>
              </c:numCache>
            </c:numRef>
          </c:val>
        </c:ser>
        <c:dLbls>
          <c:numFmt formatCode="0.000;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ROC-AUC: train vs validation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0.71</c:v>
                </c:pt>
                <c:pt idx="1">
                  <c:v>0.752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8FB8D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0.664</c:v>
                </c:pt>
                <c:pt idx="1">
                  <c:v>0.65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4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Expected calibration error on December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</c:v>
                  </c:pt>
                  <c:pt idx="1">
                    <c:v>Platt (Oct–Nov)</c:v>
                  </c:pt>
                  <c:pt idx="2">
                    <c:v>Rolling Platt (28 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0.064</c:v>
                </c:pt>
                <c:pt idx="1">
                  <c:v>0.103</c:v>
                </c:pt>
                <c:pt idx="2">
                  <c:v>0.045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</c:v>
                  </c:pt>
                  <c:pt idx="1">
                    <c:v>Platt (Oct–Nov)</c:v>
                  </c:pt>
                  <c:pt idx="2">
                    <c:v>Rolling Platt (28 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0.073</c:v>
                </c:pt>
                <c:pt idx="1">
                  <c:v>0.102</c:v>
                </c:pt>
                <c:pt idx="2">
                  <c:v>0.047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4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Ablation: December PR-AUC as groups are added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2F6690"/>
            </a:solidFill>
            <a:ln w="38100" cap="flat">
              <a:solidFill>
                <a:srgbClr val="2F66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6690"/>
              </a:solidFill>
              <a:ln w="9525" cap="flat">
                <a:solidFill>
                  <a:srgbClr val="2F66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Schedule + calendar</c:v>
                  </c:pt>
                  <c:pt idx="1">
                    <c:v>+ Congestion</c:v>
                  </c:pt>
                  <c:pt idx="2">
                    <c:v>+ Long-run history</c:v>
                  </c:pt>
                  <c:pt idx="3">
                    <c:v>+ Recent history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</c:v>
                </c:pt>
                <c:pt idx="1">
                  <c:v>0.431</c:v>
                </c:pt>
                <c:pt idx="2">
                  <c:v>0.44</c:v>
                </c:pt>
                <c:pt idx="3">
                  <c:v>0.461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Schedule + calendar</c:v>
                  </c:pt>
                  <c:pt idx="1">
                    <c:v>+ Congestion</c:v>
                  </c:pt>
                  <c:pt idx="2">
                    <c:v>+ Long-run history</c:v>
                  </c:pt>
                  <c:pt idx="3">
                    <c:v>+ Recent history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0.436</c:v>
                </c:pt>
                <c:pt idx="1">
                  <c:v>0.424</c:v>
                </c:pt>
                <c:pt idx="2">
                  <c:v>0.424</c:v>
                </c:pt>
                <c:pt idx="3">
                  <c:v>0.468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"/>
          <c:min val="0.41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4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XGBoost permutation importance (drop in PR-AUC)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 drop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Carrier</c:v>
                  </c:pt>
                  <c:pt idx="1">
                    <c:v>Days to holiday</c:v>
                  </c:pt>
                  <c:pt idx="2">
                    <c:v>Carrier-route history</c:v>
                  </c:pt>
                  <c:pt idx="3">
                    <c:v>Carrier 7-day rate</c:v>
                  </c:pt>
                  <c:pt idx="4">
                    <c:v>Departure time (sin)</c:v>
                  </c:pt>
                  <c:pt idx="5">
                    <c:v>Departure hour</c:v>
                  </c:pt>
                  <c:pt idx="6">
                    <c:v>Flight-number history</c:v>
                  </c:pt>
                  <c:pt idx="7">
                    <c:v>Origin flights that day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0.0034</c:v>
                </c:pt>
                <c:pt idx="1">
                  <c:v>0.0044</c:v>
                </c:pt>
                <c:pt idx="2">
                  <c:v>0.0052</c:v>
                </c:pt>
                <c:pt idx="3">
                  <c:v>0.0057</c:v>
                </c:pt>
                <c:pt idx="4">
                  <c:v>0.0076</c:v>
                </c:pt>
                <c:pt idx="5">
                  <c:v>0.0108</c:v>
                </c:pt>
                <c:pt idx="6">
                  <c:v>0.0124</c:v>
                </c:pt>
                <c:pt idx="7">
                  <c:v>0.0195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5CD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4"/>
          <c:min val="0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question: can we tell, the night before, which flights out of New York will arrive at least 15 minutes late? Phase 1 is the classical ML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time is the end of the previous day. The information set is the full schedule of day d plus outcomes of earlier days: P(y=1 | schedule of day d, outcomes of days before d). Anything after departure would leak the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published models use weather or the departure delay and random splits, which makes the task easier than in practice. We fix the decision time and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Cancelled and diverted flights cannot be labelled but their schedule was known, so they still count in congestion features. Departure delay is almost the label, so all post-departure columns are removed. Chronological split: December has almost double the delay rate of the validation months, which drives the calibration results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10.5% at 05:00 rising to 37% at 21:00: delays propagate through aircraft rotations during the day. Saturday is best, Thursday worst.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Congestion uses only the published schedule. History features use only days strictly before the flight date; the one-day shift is what keeps today's outcome out of today's features. Smoothing is the posterior mean under a Beta(m p0, m(1-p0)) prior.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 feature changed when future outcomes are scrambled, it would be leaking. The split is chronological because a random split would let the model see the same days in training and test. All tuning is done on October-November.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min_child_weight 2000 with h at most 1/4 means at least 8,000 flights per leaf, about nine days of departures. Platt's intercept c is exactly the term that has to move when the base rate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PR-AUC of a random scorer equals the base rate, 0.335 in December. Both models are well above it and above the route-history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(uncalibrated) probabilities in the imbalance table. Weighting changes the intercept, not the ranking, so PR-AUC barely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label shift, logit q = logit p + log(pi_t/(1-pi_t)) - log(pi_s/(1-pi_s)): Platt's intercept must follow the base rate, so we refit it on recent outcomes, all known at decision time. Cost: PR-AUC 0.468 to 0.450. LR: precision 0.612, recall 0.031 at threshold 0.519. The 0.292 number uses test labels, so it is only a reference for how much recall the shift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added one at a time with the selected hyperparameters. Importance: shuffle one feature on December and measure the PR-AUC drop. Congestion at the origin, the flight number's own history and time of day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LR with rolling calibration on December. Earlier is better because delays accumulate during the day, but the predicted gains are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notebook per member, run in order 01 to 05; each saves what the next needs. Code, results and report: github.com/techatanu/Flight_Delay_Risk.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takeaways. Limitations: cancelled and diverted flights are dropped and cluster on bad days; previous-day outcomes are assumed known at decision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Day-ahead flight delay risk  ·  github.com/techatanu/Flight_Delay_Risk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MACHINE LEARNING  ·  PROJECT 21  ·  PHASE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Day-Ahead Flight Delay Risk Prediction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features and calibrated classifiers for New York departures, 2013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Atanu Adhikari   ·   Prince Singh   ·   Sambhav Kumar   ·   Nishant Ranjan Singh   ·   Sankalp M Tellur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github.com/techatanu/Flight_Delay_Risk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predict delay risk the night before departure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290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9346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all earlier days are known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23360" y="1856232"/>
            <a:ext cx="274320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325880"/>
            <a:ext cx="34290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6934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of day d − 1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time: score every flight of day 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818120" y="1856232"/>
            <a:ext cx="274320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325880"/>
            <a:ext cx="34290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15727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1693469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905256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operates; the label is known after landing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017520"/>
            <a:ext cx="342900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3101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3246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at decision time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38862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published schedule of day d (carrier, route, times, aircraft)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strictly earlier days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343400" y="3017520"/>
            <a:ext cx="342900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31012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66360" y="3246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617720" y="38862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delay, actual times, air time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weather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outcome from day d itself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138160" y="3017520"/>
            <a:ext cx="342900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6676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31012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61120" y="3246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and output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412480" y="38862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= arrival delay ≥ 15 min (BTS definition)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calibrated P(delay) per flight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 what-if rescheduling analysis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29000" cy="2029968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813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79" y="1586667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53312" y="1517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Sternberg et al. (2017) review the field. Rebollo &amp; Balakrishnan (2014): random forests lose accuracy as the prediction horizon grows.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280160"/>
            <a:ext cx="3429000" cy="2029968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4813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339" y="158666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48072" y="1517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deep models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0574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 et al. (2016), Gui et al. (2020) and Yazdi et al. (2020) rely on weather, ADS-B or near-departure state, none of which is known a day ahead.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0" y="1280160"/>
            <a:ext cx="3429000" cy="2029968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66760" y="14813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99" y="158666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42832" y="1517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propagation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20574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Pyrgiotis et al. (2013): delays spread through aircraft rotations. This motivates our rotation and recent-delay features.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493008"/>
            <a:ext cx="3429000" cy="2029968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6941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79" y="3799515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53312" y="37307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2702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(Friedman, 2001) and XGBoost (Chen &amp; Guestrin, 2016); logistic regression as the required baseline.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43400" y="3493008"/>
            <a:ext cx="3429000" cy="2029968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36941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339" y="3799515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48072" y="37307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shift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2702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(1999), isotonic regression (Zadrozny &amp; Elkan, 2002), ECE (Guo et al., 2017). A changed base rate needs a prior correction (Saerens et al., 2002).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38160" y="3493008"/>
            <a:ext cx="3429000" cy="2029968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66760" y="36941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099" y="3799515"/>
            <a:ext cx="228234" cy="22823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42832" y="37307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leakage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66760" y="42702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curves are more informative than ROC under imbalance (Saito &amp; Rehmsmeier, 2015). Leakage formalised by Kaufman et al. (2012).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548640" y="5715000"/>
            <a:ext cx="1101852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gap: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day-ahead information, checked by an automated test, a chronological split, and calibration under temporal shift.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every NYC departure in 2013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copy of nycflights13 (BTS on-time data), airports EWR, JFK and LGA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282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336,776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1343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departures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146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7282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· 105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31343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· destinations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25146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2644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84962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flights delayed ≥ 15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3136392"/>
            <a:ext cx="25146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32644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9,430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384962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 diverted: no label, kept in volume 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25146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800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3858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 with arrival delay: departure delay removed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4672584"/>
            <a:ext cx="25146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7288" y="4800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2,512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53858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without tail number; no duplicate ids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080760" y="1554480"/>
          <a:ext cx="54864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Delays build up through the day and carry over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6751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498080" y="12344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7498080" y="4389120"/>
            <a:ext cx="41148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26680" y="4526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9189720" y="4572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autocorrelation of the daily delay rate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26680" y="5303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days spill into the next day, but the effect fades fast (0.13 at lag 2): yesterday's outcomes are useful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features, all known the night before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categorical (carrier, origin, destination) + 32 numeric, in five groups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7276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928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of departure and arrival time and of weekday, weekend flag, days to nearest holiday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68102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48716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072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hour, distance, overnight arrival flag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5954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40156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7216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departures per origin-day, origin-hour, destination-day, carrier-day; aircraft's legs that day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50982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31596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history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6360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past delay rate per carrier, origin, destination, route, carrier-route, origin-hour, flight number, aircraft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54242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23036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280160" y="55504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rates per origin, carrier, destination; yesterday's system and origin delay rate, cancellations, mean delay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589520" y="1188720"/>
            <a:ext cx="3977640" cy="4937760"/>
          </a:xfrm>
          <a:prstGeom prst="roundRect">
            <a:avLst>
              <a:gd name="adj" fmla="val 18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818120" y="1353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Past-only history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81812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9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 = Σ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d′ &lt; d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</a:t>
            </a:r>
            <a:pPr indent="0" marL="0">
              <a:buNone/>
            </a:pPr>
            <a:r>
              <a:rPr lang="en-US" sz="19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(d′)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7818120" y="2103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from earlier days only: cumulative sum, then a one-day shift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818120" y="2743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(m = 20)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81812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9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(K</a:t>
            </a:r>
            <a:pPr indent="0" marL="0">
              <a:buNone/>
            </a:pPr>
            <a:r>
              <a:rPr lang="en-US" sz="19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m·p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(N</a:t>
            </a:r>
            <a:pPr indent="0" marL="0">
              <a:buNone/>
            </a:pPr>
            <a:r>
              <a:rPr lang="en-US" sz="19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m)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7818120" y="34930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Beta-prior mean: rare routes and flight numbers shrink to the system rate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7818120" y="4133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time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818120" y="44439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of minute of day / 1440, so 23:59 and 00:00 are neighbours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818120" y="5074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on purpose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818120" y="53858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year and month: Oct–Dec never appear in 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evaluation: leakage test and time split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685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685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8506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8506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0327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0327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2148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2148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3969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3969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5790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790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7611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7611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94320" y="1645920"/>
            <a:ext cx="88163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9432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12530" y="1645920"/>
            <a:ext cx="881634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1253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30740" y="1645920"/>
            <a:ext cx="881634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3074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648950" y="1645920"/>
            <a:ext cx="88163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48950" y="1645920"/>
            <a:ext cx="881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1261872"/>
            <a:ext cx="8227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244,737 flights · 25.0% delayed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812530" y="1261872"/>
            <a:ext cx="1799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253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55,589 · 17.8%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648950" y="1261872"/>
            <a:ext cx="8816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27,020 · 33.5%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2880360"/>
            <a:ext cx="640080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3035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leakage test (notebook 02)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7240" y="352044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348386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all 35 features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399592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3995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39593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 every outcome on and after a cutoff date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77240" y="447141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280160" y="443484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features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77240" y="494690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4946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280160" y="491032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up to the cutoff must be identical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77240" y="548640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5585155"/>
            <a:ext cx="213970" cy="213970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325880" y="5468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leaky version (no one-day shift) is caught.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223760" y="2880360"/>
            <a:ext cx="434340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498080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on validation only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7498080" y="347472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C = 10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depth 4, min_child_weight 2000, λ = 20, 308 trees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calibration, 28-day rolling window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lowest with precision ≥ 0.5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7498080" y="5577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is scored 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Models, calibration and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59105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−Σ [y log p + (1−y) log(1−p)] + ‖w‖² / 2C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Convex: unique optimum; Σ pᵢ = Σ yᵢ (calibrated in the large)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categoricals, standardised numerics; C = 10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4813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5910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w* = −G / (H + λ),  g = p − y,  h = p(1 − p)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560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boosting with leaf-weight penalty λ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4, min_child_weight 2000, λ = 20, 308 trees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9502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599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526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σ(a · logit p + c)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beat isotonic on validation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Platt: refit daily on the previous 28 days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0" y="39502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0599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526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 = Σ over 10 bins of share × |observed − predicted|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(headline), ROC-AUC, Brier score, ECE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point: recall at precision ≥ 0.5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beat the baselines on December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394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2578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822960"/>
                <a:gridCol w="86868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Prior 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0.335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0.230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0.086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Route history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0.381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0.554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0.230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0.095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0.461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0.640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0.222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0.103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0.468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0.645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0.221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0.102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309360" y="34747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and ECE for LR and XGBoost after Platt calibration fitted on Oct–Nov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6309360" y="3749040"/>
            <a:ext cx="52578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39319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validation, LR is slightly ahead (PR-AUC 0.297 vs 0.276); on December XGBoost edges ahead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over the route baseline are clear but modest: without weather forecasts, day-level variance cannot be predicted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≈ 0.10 for both: the calibration problem on the next slides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needed very large leaves; class weights hurt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006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Day-level history features fingerprint individual training days, so small leaves memorise them. Validation picked min_child_weight = 2000: every leaf holds ≥ 8,000 flights (about nine days).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(raw, uncalibrated probabilities)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2578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97280"/>
                <a:gridCol w="960120"/>
                <a:gridCol w="1051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PR-AUC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ECE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 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LR, unweighted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0.461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0.064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0.295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LR, balanced weights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0.460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0.182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0.517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XGBoost, unweighted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0.468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0.073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0.269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XGBoost, pos. weight 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0.466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0.153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0.488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4069080"/>
            <a:ext cx="52578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37960" y="42519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leaves PR-AUC unchanged but inflates probabilities (mean 0.5 vs 0.335 observed) and more than doubles ECE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unweighted; imbalance handled by a precision-based threshold. No SMOTE: synthetic flights would mix days and break the history features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breaks in December; rolling Platt fixes it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7607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325880"/>
            <a:ext cx="49834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122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0.234 vs 0.335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12280" y="18379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mean predicted vs observed December rate, Platt fitted on Oct–Nov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0" y="2532888"/>
            <a:ext cx="49834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26243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0.102 → 0.047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3044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ECE after refitting Platt daily on the previous 28 days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point: precision ≥ 0.5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224528"/>
          <a:ext cx="4983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6012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0.498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0.661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0.035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XGBoost (rolling cal.)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0.576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0.585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0.062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583680" y="54406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holds but recall is low: few December flights pass a threshold set on calm months.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history and congestion drive the predictions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74920"/>
            <a:ext cx="5394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120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 gives the biggest December gain: disruption carries over from day to day. On calm validation months, congestion helps most.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234440"/>
          <a:ext cx="5349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rescheduling: few flights benefit, mostly earlier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4688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27,020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test flights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1984248"/>
            <a:ext cx="274320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325880"/>
            <a:ext cx="24688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1,979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0.5 (52% truly delayed)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1984248"/>
            <a:ext cx="274320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25880"/>
            <a:ext cx="24688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move cutting risk by ≥ 0.05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32520" y="1984248"/>
            <a:ext cx="274320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1325880"/>
            <a:ext cx="2468880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move earlier (35 later)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39496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assumptions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4904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±1 h and ±2 h on the same day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if risk falls by ≥ 0.05; max 3 moves per origin-hour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flights: mean risk 0.571 → 0.510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delays among flagged: 1,123 → 1,115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Associational only: ignores crews, rotations, connections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the risk threshold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703320"/>
          <a:ext cx="5257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914400"/>
                <a:gridCol w="960120"/>
                <a:gridCol w="960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 threshold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Flagged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Moved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Earlier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5,750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239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1,979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133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0.6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473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309360" y="54406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the risk is attached to the day and route, not the hour, so ±2 h moves change little.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1852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624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Atanu Adhikari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presentation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325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audit, delay target, seasonality and time-of-day analysis; built these slides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70992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01_eda.ipynb · eda_month, eda_hour_dow, eda_daily, eda_carrier, eda_arr_delay figures · slides/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21992"/>
            <a:ext cx="1101852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4048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52557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350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Sambhav Kumar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679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past-only features with smoothing and cyclic encodings; automated leakage test; README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26974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02_feature_engineering.ipynb · README.md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209544"/>
            <a:ext cx="1101852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3924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513125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3337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 Ranjan Singh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3666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report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297680" y="330098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and XGBoost tuning, overfitting, class imbalance and ablation; IEEE report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368503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03_model_training.ipynb · tuning.csv, selected_models.json, ablation.csv, imbalance.csv · imbalance.tex · report/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4197096"/>
            <a:ext cx="1101852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1520" y="43799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4500677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17320" y="4325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 M Tellur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417320" y="4654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calibration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297680" y="42885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test metrics, reliability and calibration, operating point, permutation importance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4297680" y="46725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04_evaluation_calibration.ipynb · metrics, calibration, importance CSVs · 4 figures · 5 LaTeX tables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5184648"/>
            <a:ext cx="1101852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31520" y="53675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5488229"/>
            <a:ext cx="261518" cy="26151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17320" y="53126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Singh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1417320" y="5641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 and report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4297680" y="52760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rescheduling with explicit assumptions and threshold sensitivity; IEEE report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4297680" y="566013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05_rescheduling.ipynb · reschedule_summary.csv · reschedule.png · 2 LaTeX tables · report/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1577157"/>
            <a:ext cx="247254" cy="247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898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day-ahead pipeline, verified by an automated test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267712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381829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1945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PR-AUC 0.461 (LR) and 0.468 (XGBoost) vs base rate 0.335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307238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" y="3186501"/>
            <a:ext cx="247254" cy="24725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9992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only competitive once forced to use very large leaves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31520" y="387705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3991173"/>
            <a:ext cx="247254" cy="24725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38039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Platt follows the drift: ECE 0.102 → 0.047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31520" y="4681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37" y="4795845"/>
            <a:ext cx="247254" cy="24725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17320" y="460857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Rescheduling: earlier is better, but gains within ±2 h are small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949440" y="1325880"/>
            <a:ext cx="4617720" cy="4160520"/>
          </a:xfrm>
          <a:prstGeom prst="roundRect">
            <a:avLst>
              <a:gd name="adj" fmla="val 17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7223760" y="1481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223760" y="187452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forecasts: day-level weather caps accuracy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of NYC departures only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 is associational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722376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deep learning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223760" y="400507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with embeddings for carrier, origin and destination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split, features and metrics for a fair comparison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" y="5806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ht Departure">
  <a:themeElements>
    <a:clrScheme name="Night Departure">
      <a:dk1>
        <a:srgbClr val="0F1B2D"/>
      </a:dk1>
      <a:lt1>
        <a:srgbClr val="FFFFFF"/>
      </a:lt1>
      <a:dk2>
        <a:srgbClr val="3A4A5E"/>
      </a:dk2>
      <a:lt2>
        <a:srgbClr val="EEF2F7"/>
      </a:lt2>
      <a:accent1>
        <a:srgbClr val="E8A33D"/>
      </a:accent1>
      <a:accent2>
        <a:srgbClr val="2F6690"/>
      </a:accent2>
      <a:accent3>
        <a:srgbClr val="8FB8DE"/>
      </a:accent3>
      <a:accent4>
        <a:srgbClr val="C8553D"/>
      </a:accent4>
      <a:accent5>
        <a:srgbClr val="8A97A6"/>
      </a:accent5>
      <a:accent6>
        <a:srgbClr val="3E8E7E"/>
      </a:accent6>
      <a:hlink>
        <a:srgbClr val="2F6690"/>
      </a:hlink>
      <a:folHlink>
        <a:srgbClr val="6C7A89"/>
      </a:folHlink>
    </a:clrScheme>
    <a:fontScheme name="Night Depar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Microsoft Office PowerPoint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Day-Ahead Flight Delay Risk Prediction</dc:title>
  <dc:subject>Advanced Machine Learning, Project 21, Phase 1</dc:subject>
  <dc:creator>Atanu Adhikari</dc:creator>
  <cp:lastModifiedBy>Atanu Adhikari</cp:lastModifiedBy>
  <cp:revision>1</cp:revision>
  <dcterms:created xsi:type="dcterms:W3CDTF">2026-10-26T12:10:08Z</dcterms:created>
  <dcterms:modified xsi:type="dcterms:W3CDTF">2026-10-26T12:10:08Z</dcterms:modified>
</cp:coreProperties>
</file>